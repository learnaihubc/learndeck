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1_radial_background_1"/>
          <p:cNvSpPr/>
          <p:nvPr/>
        </p:nvSpPr>
        <p:spPr>
          <a:xfrm>
            <a:off x="-3429000" y="-2209800"/>
            <a:ext cx="6858000" cy="4419600"/>
          </a:xfrm>
          <a:prstGeom prst="ellipse">
            <a:avLst/>
          </a:prstGeom>
          <a:solidFill>
            <a:srgbClr val="DCE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1_radial_background_2"/>
          <p:cNvSpPr/>
          <p:nvPr/>
        </p:nvSpPr>
        <p:spPr>
          <a:xfrm>
            <a:off x="9067800" y="4876800"/>
            <a:ext cx="6248400" cy="3962400"/>
          </a:xfrm>
          <a:prstGeom prst="ellipse">
            <a:avLst/>
          </a:prstGeom>
          <a:solidFill>
            <a:srgbClr val="F7E2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1_div_eyebrow_0_shape"/>
          <p:cNvSpPr/>
          <p:nvPr/>
        </p:nvSpPr>
        <p:spPr>
          <a:xfrm>
            <a:off x="579120" y="327660"/>
            <a:ext cx="2806303" cy="274320"/>
          </a:xfrm>
          <a:prstGeom prst="roundRect">
            <a:avLst>
              <a:gd name="adj" fmla="val 50000"/>
            </a:avLst>
          </a:prstGeom>
          <a:solidFill>
            <a:srgbClr val="F7F9FF">
              <a:alpha val="90000"/>
            </a:srgbClr>
          </a:solidFill>
          <a:ln w="7620">
            <a:solidFill>
              <a:srgbClr val="D9E0FB"/>
            </a:solidFill>
            <a:prstDash val="solid"/>
          </a:ln>
        </p:spPr>
      </p:sp>
      <p:sp>
        <p:nvSpPr>
          <p:cNvPr id="6" name="s1_div_cover-value_6_shape"/>
          <p:cNvSpPr/>
          <p:nvPr/>
        </p:nvSpPr>
        <p:spPr>
          <a:xfrm>
            <a:off x="579120" y="3139440"/>
            <a:ext cx="1432560" cy="899160"/>
          </a:xfrm>
          <a:prstGeom prst="roundRect">
            <a:avLst>
              <a:gd name="adj" fmla="val 14407"/>
            </a:avLst>
          </a:prstGeom>
          <a:solidFill>
            <a:srgbClr val="FFFFFF">
              <a:alpha val="95000"/>
            </a:srgbClr>
          </a:solidFill>
          <a:ln w="7620">
            <a:solidFill>
              <a:srgbClr val="E3E8F2"/>
            </a:solidFill>
            <a:prstDash val="solid"/>
          </a:ln>
          <a:effectLst>
            <a:outerShdw sx="100000" sy="100000" kx="0" ky="0" algn="bl" rotWithShape="0" blurRad="160020" dist="91440" dir="5400000">
              <a:srgbClr val="263A6A">
                <a:alpha val="8000"/>
              </a:srgbClr>
            </a:outerShdw>
          </a:effectLst>
        </p:spPr>
      </p:sp>
      <p:sp>
        <p:nvSpPr>
          <p:cNvPr id="7" name="s1_div_cover-value-dot_7_shape"/>
          <p:cNvSpPr/>
          <p:nvPr/>
        </p:nvSpPr>
        <p:spPr>
          <a:xfrm>
            <a:off x="723900" y="3284220"/>
            <a:ext cx="76200" cy="76200"/>
          </a:xfrm>
          <a:prstGeom prst="roundRect">
            <a:avLst>
              <a:gd name="adj" fmla="val 500000"/>
            </a:avLst>
          </a:prstGeom>
          <a:solidFill>
            <a:srgbClr val="2F7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1_div_cover-value_10_shape"/>
          <p:cNvSpPr/>
          <p:nvPr/>
        </p:nvSpPr>
        <p:spPr>
          <a:xfrm>
            <a:off x="2125980" y="3139440"/>
            <a:ext cx="1432560" cy="899160"/>
          </a:xfrm>
          <a:prstGeom prst="roundRect">
            <a:avLst>
              <a:gd name="adj" fmla="val 14407"/>
            </a:avLst>
          </a:prstGeom>
          <a:solidFill>
            <a:srgbClr val="FFFFFF">
              <a:alpha val="95000"/>
            </a:srgbClr>
          </a:solidFill>
          <a:ln w="7620">
            <a:solidFill>
              <a:srgbClr val="E3E8F2"/>
            </a:solidFill>
            <a:prstDash val="solid"/>
          </a:ln>
          <a:effectLst>
            <a:outerShdw sx="100000" sy="100000" kx="0" ky="0" algn="bl" rotWithShape="0" blurRad="160020" dist="91440" dir="5400000">
              <a:srgbClr val="263A6A">
                <a:alpha val="8000"/>
              </a:srgbClr>
            </a:outerShdw>
          </a:effectLst>
        </p:spPr>
      </p:sp>
      <p:sp>
        <p:nvSpPr>
          <p:cNvPr id="9" name="s1_div_cover-value-dot_11_shape"/>
          <p:cNvSpPr/>
          <p:nvPr/>
        </p:nvSpPr>
        <p:spPr>
          <a:xfrm>
            <a:off x="2270760" y="3284220"/>
            <a:ext cx="76200" cy="76200"/>
          </a:xfrm>
          <a:prstGeom prst="roundRect">
            <a:avLst>
              <a:gd name="adj" fmla="val 500000"/>
            </a:avLst>
          </a:prstGeom>
          <a:solidFill>
            <a:srgbClr val="0AA49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1_div_cover-value_14_shape"/>
          <p:cNvSpPr/>
          <p:nvPr/>
        </p:nvSpPr>
        <p:spPr>
          <a:xfrm>
            <a:off x="3672840" y="3139440"/>
            <a:ext cx="1432560" cy="899160"/>
          </a:xfrm>
          <a:prstGeom prst="roundRect">
            <a:avLst>
              <a:gd name="adj" fmla="val 14407"/>
            </a:avLst>
          </a:prstGeom>
          <a:solidFill>
            <a:srgbClr val="FFFFFF">
              <a:alpha val="95000"/>
            </a:srgbClr>
          </a:solidFill>
          <a:ln w="7620">
            <a:solidFill>
              <a:srgbClr val="E3E8F2"/>
            </a:solidFill>
            <a:prstDash val="solid"/>
          </a:ln>
          <a:effectLst>
            <a:outerShdw sx="100000" sy="100000" kx="0" ky="0" algn="bl" rotWithShape="0" blurRad="160020" dist="91440" dir="5400000">
              <a:srgbClr val="263A6A">
                <a:alpha val="8000"/>
              </a:srgbClr>
            </a:outerShdw>
          </a:effectLst>
        </p:spPr>
      </p:sp>
      <p:sp>
        <p:nvSpPr>
          <p:cNvPr id="11" name="s1_div_cover-value-dot_15_shape"/>
          <p:cNvSpPr/>
          <p:nvPr/>
        </p:nvSpPr>
        <p:spPr>
          <a:xfrm>
            <a:off x="3817620" y="3284220"/>
            <a:ext cx="76200" cy="76200"/>
          </a:xfrm>
          <a:prstGeom prst="roundRect">
            <a:avLst>
              <a:gd name="adj" fmla="val 500000"/>
            </a:avLst>
          </a:prstGeom>
          <a:solidFill>
            <a:srgbClr val="7B35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1_div_cover-pipeline_18_shape"/>
          <p:cNvSpPr/>
          <p:nvPr/>
        </p:nvSpPr>
        <p:spPr>
          <a:xfrm>
            <a:off x="579120" y="4343400"/>
            <a:ext cx="4876800" cy="655320"/>
          </a:xfrm>
          <a:prstGeom prst="roundRect">
            <a:avLst>
              <a:gd name="adj" fmla="val 20930"/>
            </a:avLst>
          </a:prstGeom>
          <a:gradFill rotWithShape="1">
            <a:gsLst>
              <a:gs pos="0">
                <a:srgbClr val="F1F5FF"/>
              </a:gs>
              <a:gs pos="100000">
                <a:srgbClr val="FFF5FB"/>
              </a:gs>
            </a:gsLst>
            <a:lin ang="6300000" scaled="1"/>
          </a:gradFill>
          <a:ln w="7620">
            <a:solidFill>
              <a:srgbClr val="E0E6F3"/>
            </a:solidFill>
            <a:prstDash val="solid"/>
          </a:ln>
        </p:spPr>
      </p:sp>
      <p:sp>
        <p:nvSpPr>
          <p:cNvPr id="13" name="s1_div_hero-shell_26_shape"/>
          <p:cNvSpPr/>
          <p:nvPr/>
        </p:nvSpPr>
        <p:spPr>
          <a:xfrm>
            <a:off x="6126480" y="655320"/>
            <a:ext cx="5486400" cy="5516880"/>
          </a:xfrm>
          <a:prstGeom prst="roundRect">
            <a:avLst>
              <a:gd name="adj" fmla="val 3333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DFE5F0"/>
            </a:solidFill>
            <a:prstDash val="solid"/>
          </a:ln>
          <a:effectLst>
            <a:outerShdw sx="100000" sy="100000" kx="0" ky="0" algn="bl" rotWithShape="0" blurRad="309372" dist="182880" dir="5400000">
              <a:srgbClr val="1F3362">
                <a:alpha val="15000"/>
              </a:srgbClr>
            </a:outerShdw>
          </a:effectLst>
        </p:spPr>
      </p:sp>
      <p:sp>
        <p:nvSpPr>
          <p:cNvPr id="14" name="s1_span_29_shape"/>
          <p:cNvSpPr/>
          <p:nvPr/>
        </p:nvSpPr>
        <p:spPr>
          <a:xfrm>
            <a:off x="6271260" y="880110"/>
            <a:ext cx="68580" cy="68580"/>
          </a:xfrm>
          <a:prstGeom prst="ellipse">
            <a:avLst>
              <a:gd name="adj" fmla="val 555556"/>
            </a:avLst>
          </a:prstGeom>
          <a:solidFill>
            <a:srgbClr val="FF7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_span_30_shape"/>
          <p:cNvSpPr/>
          <p:nvPr/>
        </p:nvSpPr>
        <p:spPr>
          <a:xfrm>
            <a:off x="6393180" y="880110"/>
            <a:ext cx="68580" cy="68580"/>
          </a:xfrm>
          <a:prstGeom prst="ellipse">
            <a:avLst>
              <a:gd name="adj" fmla="val 555556"/>
            </a:avLst>
          </a:prstGeom>
          <a:solidFill>
            <a:srgbClr val="FFC8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1_span_31_shape"/>
          <p:cNvSpPr/>
          <p:nvPr/>
        </p:nvSpPr>
        <p:spPr>
          <a:xfrm>
            <a:off x="6515100" y="880110"/>
            <a:ext cx="68580" cy="68580"/>
          </a:xfrm>
          <a:prstGeom prst="ellipse">
            <a:avLst>
              <a:gd name="adj" fmla="val 555556"/>
            </a:avLst>
          </a:prstGeom>
          <a:solidFill>
            <a:srgbClr val="52CF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1_div_mini-slide_32_shape"/>
          <p:cNvSpPr/>
          <p:nvPr/>
        </p:nvSpPr>
        <p:spPr>
          <a:xfrm>
            <a:off x="6271260" y="1089660"/>
            <a:ext cx="5196840" cy="2926080"/>
          </a:xfrm>
          <a:prstGeom prst="roundRect">
            <a:avLst>
              <a:gd name="adj" fmla="val 3385"/>
            </a:avLst>
          </a:prstGeom>
          <a:solidFill>
            <a:srgbClr val="DCE7FF"/>
          </a:solidFill>
          <a:ln w="7620">
            <a:solidFill>
              <a:srgbClr val="E2E7F0"/>
            </a:solidFill>
            <a:prstDash val="solid"/>
          </a:ln>
        </p:spPr>
      </p:sp>
      <p:sp>
        <p:nvSpPr>
          <p:cNvPr id="18" name="s1_div_mini-pill_33_shape"/>
          <p:cNvSpPr/>
          <p:nvPr/>
        </p:nvSpPr>
        <p:spPr>
          <a:xfrm>
            <a:off x="6492240" y="1280160"/>
            <a:ext cx="1005840" cy="144780"/>
          </a:xfrm>
          <a:prstGeom prst="roundRect">
            <a:avLst>
              <a:gd name="adj" fmla="val 52632"/>
            </a:avLst>
          </a:prstGeom>
          <a:solidFill>
            <a:srgbClr val="FFFFFF">
              <a:alpha val="0"/>
            </a:srgbClr>
          </a:solidFill>
          <a:ln w="7620">
            <a:solidFill>
              <a:srgbClr val="D7DEF9"/>
            </a:solidFill>
            <a:prstDash val="solid"/>
          </a:ln>
        </p:spPr>
      </p:sp>
      <p:sp>
        <p:nvSpPr>
          <p:cNvPr id="19" name="s1_div_mini-title_34_shape"/>
          <p:cNvSpPr/>
          <p:nvPr/>
        </p:nvSpPr>
        <p:spPr>
          <a:xfrm>
            <a:off x="6492240" y="1592580"/>
            <a:ext cx="2255520" cy="190500"/>
          </a:xfrm>
          <a:prstGeom prst="roundRect">
            <a:avLst>
              <a:gd name="adj" fmla="val 20000"/>
            </a:avLst>
          </a:prstGeom>
          <a:solidFill>
            <a:srgbClr val="182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1_div_mini-subtitle_35_shape"/>
          <p:cNvSpPr/>
          <p:nvPr/>
        </p:nvSpPr>
        <p:spPr>
          <a:xfrm>
            <a:off x="6492240" y="1905000"/>
            <a:ext cx="3124200" cy="60960"/>
          </a:xfrm>
          <a:prstGeom prst="roundRect">
            <a:avLst>
              <a:gd name="adj" fmla="val 50000"/>
            </a:avLst>
          </a:prstGeom>
          <a:solidFill>
            <a:srgbClr val="A8B3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1_span_blue-gradient_37_shape"/>
          <p:cNvSpPr/>
          <p:nvPr/>
        </p:nvSpPr>
        <p:spPr>
          <a:xfrm>
            <a:off x="6492240" y="2202180"/>
            <a:ext cx="1131570" cy="655320"/>
          </a:xfrm>
          <a:prstGeom prst="roundRect">
            <a:avLst>
              <a:gd name="adj" fmla="val 15116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96012" dist="60960" dir="5400000">
              <a:srgbClr val="273B68">
                <a:alpha val="12000"/>
              </a:srgbClr>
            </a:outerShdw>
          </a:effectLst>
        </p:spPr>
      </p:sp>
      <p:sp>
        <p:nvSpPr>
          <p:cNvPr id="22" name="s1_span_teal-gradient_38_shape"/>
          <p:cNvSpPr/>
          <p:nvPr/>
        </p:nvSpPr>
        <p:spPr>
          <a:xfrm>
            <a:off x="7700010" y="2202180"/>
            <a:ext cx="1131570" cy="655320"/>
          </a:xfrm>
          <a:prstGeom prst="roundRect">
            <a:avLst>
              <a:gd name="adj" fmla="val 15116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96012" dist="60960" dir="5400000">
              <a:srgbClr val="273B68">
                <a:alpha val="12000"/>
              </a:srgbClr>
            </a:outerShdw>
          </a:effectLst>
        </p:spPr>
      </p:sp>
      <p:sp>
        <p:nvSpPr>
          <p:cNvPr id="23" name="s1_span_purple-gradient_39_shape"/>
          <p:cNvSpPr/>
          <p:nvPr/>
        </p:nvSpPr>
        <p:spPr>
          <a:xfrm>
            <a:off x="8907780" y="2202180"/>
            <a:ext cx="1131570" cy="655320"/>
          </a:xfrm>
          <a:prstGeom prst="roundRect">
            <a:avLst>
              <a:gd name="adj" fmla="val 15116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96012" dist="60960" dir="5400000">
              <a:srgbClr val="273B68">
                <a:alpha val="12000"/>
              </a:srgbClr>
            </a:outerShdw>
          </a:effectLst>
        </p:spPr>
      </p:sp>
      <p:sp>
        <p:nvSpPr>
          <p:cNvPr id="24" name="s1_span_orange-gradient_40_shape"/>
          <p:cNvSpPr/>
          <p:nvPr/>
        </p:nvSpPr>
        <p:spPr>
          <a:xfrm>
            <a:off x="10115550" y="2202180"/>
            <a:ext cx="1131570" cy="655320"/>
          </a:xfrm>
          <a:prstGeom prst="roundRect">
            <a:avLst>
              <a:gd name="adj" fmla="val 15116"/>
            </a:avLst>
          </a:prstGeom>
          <a:gradFill rotWithShape="1">
            <a:gsLst>
              <a:gs pos="0">
                <a:srgbClr val="FF8737"/>
              </a:gs>
              <a:gs pos="100000">
                <a:srgbClr val="F15B0E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96012" dist="60960" dir="5400000">
              <a:srgbClr val="273B68">
                <a:alpha val="12000"/>
              </a:srgbClr>
            </a:outerShdw>
          </a:effectLst>
        </p:spPr>
      </p:sp>
      <p:sp>
        <p:nvSpPr>
          <p:cNvPr id="25" name="s1_span_42_shape"/>
          <p:cNvSpPr/>
          <p:nvPr/>
        </p:nvSpPr>
        <p:spPr>
          <a:xfrm>
            <a:off x="6492240" y="2987040"/>
            <a:ext cx="1524000" cy="777240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7620">
            <a:solidFill>
              <a:srgbClr val="E1E7F0"/>
            </a:solidFill>
            <a:prstDash val="solid"/>
          </a:ln>
          <a:effectLst>
            <a:outerShdw sx="100000" sy="100000" kx="0" ky="0" algn="bl" rotWithShape="0" blurRad="96012" dist="53340" dir="5400000">
              <a:srgbClr val="243866">
                <a:alpha val="7000"/>
              </a:srgbClr>
            </a:outerShdw>
          </a:effectLst>
        </p:spPr>
      </p:sp>
      <p:sp>
        <p:nvSpPr>
          <p:cNvPr id="26" name="s1_span_43_shape"/>
          <p:cNvSpPr/>
          <p:nvPr/>
        </p:nvSpPr>
        <p:spPr>
          <a:xfrm>
            <a:off x="8107680" y="2987040"/>
            <a:ext cx="1524000" cy="777240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7620">
            <a:solidFill>
              <a:srgbClr val="E1E7F0"/>
            </a:solidFill>
            <a:prstDash val="solid"/>
          </a:ln>
          <a:effectLst>
            <a:outerShdw sx="100000" sy="100000" kx="0" ky="0" algn="bl" rotWithShape="0" blurRad="96012" dist="53340" dir="5400000">
              <a:srgbClr val="243866">
                <a:alpha val="7000"/>
              </a:srgbClr>
            </a:outerShdw>
          </a:effectLst>
        </p:spPr>
      </p:sp>
      <p:sp>
        <p:nvSpPr>
          <p:cNvPr id="27" name="s1_span_44_shape"/>
          <p:cNvSpPr/>
          <p:nvPr/>
        </p:nvSpPr>
        <p:spPr>
          <a:xfrm>
            <a:off x="9723120" y="2987040"/>
            <a:ext cx="1524000" cy="777240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7620">
            <a:solidFill>
              <a:srgbClr val="E1E7F0"/>
            </a:solidFill>
            <a:prstDash val="solid"/>
          </a:ln>
          <a:effectLst>
            <a:outerShdw sx="100000" sy="100000" kx="0" ky="0" algn="bl" rotWithShape="0" blurRad="96012" dist="53340" dir="5400000">
              <a:srgbClr val="243866">
                <a:alpha val="7000"/>
              </a:srgbClr>
            </a:outerShdw>
          </a:effectLst>
        </p:spPr>
      </p:sp>
      <p:sp>
        <p:nvSpPr>
          <p:cNvPr id="28" name="s1_div_delivery-card_47_shape"/>
          <p:cNvSpPr/>
          <p:nvPr/>
        </p:nvSpPr>
        <p:spPr>
          <a:xfrm>
            <a:off x="6271260" y="4419600"/>
            <a:ext cx="1681401" cy="777240"/>
          </a:xfrm>
          <a:prstGeom prst="roundRect">
            <a:avLst>
              <a:gd name="adj" fmla="val 13725"/>
            </a:avLst>
          </a:prstGeom>
          <a:solidFill>
            <a:srgbClr val="FBFCFF"/>
          </a:solidFill>
          <a:ln w="7620">
            <a:solidFill>
              <a:srgbClr val="E4E9F2"/>
            </a:solidFill>
            <a:prstDash val="solid"/>
          </a:ln>
        </p:spPr>
      </p:sp>
      <p:sp>
        <p:nvSpPr>
          <p:cNvPr id="29" name="s1_div_delivery-icon_blue-gradient_48_shape"/>
          <p:cNvSpPr/>
          <p:nvPr/>
        </p:nvSpPr>
        <p:spPr>
          <a:xfrm>
            <a:off x="6377940" y="4533900"/>
            <a:ext cx="259080" cy="259080"/>
          </a:xfrm>
          <a:prstGeom prst="roundRect">
            <a:avLst>
              <a:gd name="adj" fmla="val 29412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1_div_delivery-card_51_shape"/>
          <p:cNvSpPr/>
          <p:nvPr/>
        </p:nvSpPr>
        <p:spPr>
          <a:xfrm>
            <a:off x="8028861" y="4419600"/>
            <a:ext cx="1681520" cy="777240"/>
          </a:xfrm>
          <a:prstGeom prst="roundRect">
            <a:avLst>
              <a:gd name="adj" fmla="val 13725"/>
            </a:avLst>
          </a:prstGeom>
          <a:solidFill>
            <a:srgbClr val="FBFCFF"/>
          </a:solidFill>
          <a:ln w="7620">
            <a:solidFill>
              <a:srgbClr val="E4E9F2"/>
            </a:solidFill>
            <a:prstDash val="solid"/>
          </a:ln>
        </p:spPr>
      </p:sp>
      <p:sp>
        <p:nvSpPr>
          <p:cNvPr id="31" name="s1_div_delivery-icon_teal-gradient_52_shape"/>
          <p:cNvSpPr/>
          <p:nvPr/>
        </p:nvSpPr>
        <p:spPr>
          <a:xfrm>
            <a:off x="8135541" y="4533900"/>
            <a:ext cx="259080" cy="259080"/>
          </a:xfrm>
          <a:prstGeom prst="roundRect">
            <a:avLst>
              <a:gd name="adj" fmla="val 29412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1_div_delivery-card_55_shape"/>
          <p:cNvSpPr/>
          <p:nvPr/>
        </p:nvSpPr>
        <p:spPr>
          <a:xfrm>
            <a:off x="9786580" y="4419600"/>
            <a:ext cx="1681520" cy="777240"/>
          </a:xfrm>
          <a:prstGeom prst="roundRect">
            <a:avLst>
              <a:gd name="adj" fmla="val 13725"/>
            </a:avLst>
          </a:prstGeom>
          <a:solidFill>
            <a:srgbClr val="FBFCFF"/>
          </a:solidFill>
          <a:ln w="7620">
            <a:solidFill>
              <a:srgbClr val="E4E9F2"/>
            </a:solidFill>
            <a:prstDash val="solid"/>
          </a:ln>
        </p:spPr>
      </p:sp>
      <p:sp>
        <p:nvSpPr>
          <p:cNvPr id="33" name="s1_div_delivery-icon_purple-gradient_56_shape"/>
          <p:cNvSpPr/>
          <p:nvPr/>
        </p:nvSpPr>
        <p:spPr>
          <a:xfrm>
            <a:off x="9893260" y="4533900"/>
            <a:ext cx="259080" cy="259080"/>
          </a:xfrm>
          <a:prstGeom prst="roundRect">
            <a:avLst>
              <a:gd name="adj" fmla="val 29412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1_div_footer-bar_59_shape"/>
          <p:cNvSpPr/>
          <p:nvPr/>
        </p:nvSpPr>
        <p:spPr>
          <a:xfrm>
            <a:off x="579120" y="6309360"/>
            <a:ext cx="11033760" cy="365760"/>
          </a:xfrm>
          <a:prstGeom prst="roundRect">
            <a:avLst>
              <a:gd name="adj" fmla="val 31250"/>
            </a:avLst>
          </a:prstGeom>
          <a:gradFill rotWithShape="1">
            <a:gsLst>
              <a:gs pos="0">
                <a:srgbClr val="F2F5FF"/>
              </a:gs>
              <a:gs pos="100000">
                <a:srgbClr val="FFF7FB"/>
              </a:gs>
            </a:gsLst>
            <a:lin ang="6300000" scaled="1"/>
          </a:gradFill>
          <a:ln w="7620">
            <a:solidFill>
              <a:srgbClr val="E2E7F5"/>
            </a:solidFill>
            <a:prstDash val="solid"/>
          </a:ln>
        </p:spPr>
      </p:sp>
      <p:sp>
        <p:nvSpPr>
          <p:cNvPr id="35" name="s1_div_eyebrow_0_text"/>
          <p:cNvSpPr/>
          <p:nvPr/>
        </p:nvSpPr>
        <p:spPr>
          <a:xfrm>
            <a:off x="716280" y="327660"/>
            <a:ext cx="2692003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900" b="1" spc="48" kern="0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 · AI PRESENTATION ENGINE</a:t>
            </a:r>
            <a:endParaRPr lang="en-US" sz="900" dirty="0"/>
          </a:p>
        </p:txBody>
      </p:sp>
      <p:sp>
        <p:nvSpPr>
          <p:cNvPr id="36" name="s1_div_page-num_1_text"/>
          <p:cNvSpPr/>
          <p:nvPr/>
        </p:nvSpPr>
        <p:spPr>
          <a:xfrm>
            <a:off x="11209972" y="388620"/>
            <a:ext cx="562927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9AA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04</a:t>
            </a:r>
            <a:endParaRPr lang="en-US" sz="900" dirty="0"/>
          </a:p>
        </p:txBody>
      </p:sp>
      <p:sp>
        <p:nvSpPr>
          <p:cNvPr id="37" name="s1_h1_cover-title_2_text"/>
          <p:cNvSpPr/>
          <p:nvPr/>
        </p:nvSpPr>
        <p:spPr>
          <a:xfrm>
            <a:off x="579120" y="952500"/>
            <a:ext cx="5699760" cy="113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96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knowledge into</a:t>
            </a:r>
            <a:pPr algn="l" indent="0" marL="0">
              <a:lnSpc>
                <a:spcPts val="4018"/>
              </a:lnSpc>
              <a:buNone/>
            </a:pPr>
            <a:r>
              <a:rPr lang="en-US" sz="3720" b="1" spc="-96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4018"/>
              </a:lnSpc>
              <a:buNone/>
            </a:pPr>
            <a:r>
              <a:rPr lang="en-US" sz="3720" b="1" spc="-96" kern="0" dirty="0">
                <a:solidFill>
                  <a:srgbClr val="654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polished, editable PPTs</a:t>
            </a:r>
            <a:endParaRPr lang="en-US" sz="3720" dirty="0"/>
          </a:p>
        </p:txBody>
      </p:sp>
      <p:sp>
        <p:nvSpPr>
          <p:cNvPr id="38" name="s1_p_cover-subtitle_4_text"/>
          <p:cNvSpPr/>
          <p:nvPr/>
        </p:nvSpPr>
        <p:spPr>
          <a:xfrm>
            <a:off x="579120" y="2179320"/>
            <a:ext cx="5166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627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topic, outline, or source material. Generate a complete presentation with clear structure, consistent visuals, and objects that remain easy to edit.</a:t>
            </a:r>
            <a:endParaRPr lang="en-US" sz="1200" dirty="0"/>
          </a:p>
        </p:txBody>
      </p:sp>
      <p:sp>
        <p:nvSpPr>
          <p:cNvPr id="39" name="s1_div_cover-value-title_8_text"/>
          <p:cNvSpPr/>
          <p:nvPr/>
        </p:nvSpPr>
        <p:spPr>
          <a:xfrm>
            <a:off x="723900" y="3467100"/>
            <a:ext cx="1345692" cy="20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structure</a:t>
            </a:r>
            <a:endParaRPr lang="en-US" sz="1140" dirty="0"/>
          </a:p>
        </p:txBody>
      </p:sp>
      <p:sp>
        <p:nvSpPr>
          <p:cNvPr id="40" name="s1_div_cover-value-note_9_text"/>
          <p:cNvSpPr/>
          <p:nvPr/>
        </p:nvSpPr>
        <p:spPr>
          <a:xfrm>
            <a:off x="723900" y="3694152"/>
            <a:ext cx="1271016" cy="269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2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Titles, key points, and pacing stay easy to follow</a:t>
            </a:r>
            <a:endParaRPr lang="en-US" sz="720" dirty="0"/>
          </a:p>
        </p:txBody>
      </p:sp>
      <p:sp>
        <p:nvSpPr>
          <p:cNvPr id="41" name="s1_div_cover-value-title_12_text"/>
          <p:cNvSpPr/>
          <p:nvPr/>
        </p:nvSpPr>
        <p:spPr>
          <a:xfrm>
            <a:off x="2270760" y="3467100"/>
            <a:ext cx="1345692" cy="20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 visuals</a:t>
            </a:r>
            <a:endParaRPr lang="en-US" sz="1140" dirty="0"/>
          </a:p>
        </p:txBody>
      </p:sp>
      <p:sp>
        <p:nvSpPr>
          <p:cNvPr id="42" name="s1_div_cover-value-note_13_text"/>
          <p:cNvSpPr/>
          <p:nvPr/>
        </p:nvSpPr>
        <p:spPr>
          <a:xfrm>
            <a:off x="2270760" y="3694152"/>
            <a:ext cx="1271016" cy="269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2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color, spacing, and hierarchy</a:t>
            </a:r>
            <a:endParaRPr lang="en-US" sz="720" dirty="0"/>
          </a:p>
        </p:txBody>
      </p:sp>
      <p:sp>
        <p:nvSpPr>
          <p:cNvPr id="43" name="s1_div_cover-value-title_16_text"/>
          <p:cNvSpPr/>
          <p:nvPr/>
        </p:nvSpPr>
        <p:spPr>
          <a:xfrm>
            <a:off x="3817620" y="3467100"/>
            <a:ext cx="1345692" cy="38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delivery</a:t>
            </a:r>
            <a:endParaRPr lang="en-US" sz="1140" dirty="0"/>
          </a:p>
        </p:txBody>
      </p:sp>
      <p:sp>
        <p:nvSpPr>
          <p:cNvPr id="44" name="s1_div_cover-value-note_17_text"/>
          <p:cNvSpPr/>
          <p:nvPr/>
        </p:nvSpPr>
        <p:spPr>
          <a:xfrm>
            <a:off x="3817620" y="3867864"/>
            <a:ext cx="1271016" cy="269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2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shapes, and icons remain independent</a:t>
            </a:r>
            <a:endParaRPr lang="en-US" sz="720" dirty="0"/>
          </a:p>
        </p:txBody>
      </p:sp>
      <p:sp>
        <p:nvSpPr>
          <p:cNvPr id="45" name="s1_span_19_text"/>
          <p:cNvSpPr/>
          <p:nvPr/>
        </p:nvSpPr>
        <p:spPr>
          <a:xfrm>
            <a:off x="864870" y="4606290"/>
            <a:ext cx="992029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content</a:t>
            </a:r>
            <a:endParaRPr lang="en-US" sz="900" dirty="0"/>
          </a:p>
        </p:txBody>
      </p:sp>
      <p:sp>
        <p:nvSpPr>
          <p:cNvPr id="46" name="s1_span_arrow_20_text"/>
          <p:cNvSpPr/>
          <p:nvPr/>
        </p:nvSpPr>
        <p:spPr>
          <a:xfrm>
            <a:off x="1795939" y="4579620"/>
            <a:ext cx="3733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60" dirty="0"/>
          </a:p>
        </p:txBody>
      </p:sp>
      <p:sp>
        <p:nvSpPr>
          <p:cNvPr id="47" name="s1_span_21_text"/>
          <p:cNvSpPr/>
          <p:nvPr/>
        </p:nvSpPr>
        <p:spPr>
          <a:xfrm>
            <a:off x="2055019" y="4606290"/>
            <a:ext cx="843796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layout</a:t>
            </a:r>
            <a:endParaRPr lang="en-US" sz="900" dirty="0"/>
          </a:p>
        </p:txBody>
      </p:sp>
      <p:sp>
        <p:nvSpPr>
          <p:cNvPr id="48" name="s1_span_arrow_22_text"/>
          <p:cNvSpPr/>
          <p:nvPr/>
        </p:nvSpPr>
        <p:spPr>
          <a:xfrm>
            <a:off x="2837855" y="4579620"/>
            <a:ext cx="3733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60" dirty="0"/>
          </a:p>
        </p:txBody>
      </p:sp>
      <p:sp>
        <p:nvSpPr>
          <p:cNvPr id="49" name="s1_span_23_text"/>
          <p:cNvSpPr/>
          <p:nvPr/>
        </p:nvSpPr>
        <p:spPr>
          <a:xfrm>
            <a:off x="3096935" y="4606290"/>
            <a:ext cx="1163717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geometry</a:t>
            </a:r>
            <a:endParaRPr lang="en-US" sz="900" dirty="0"/>
          </a:p>
        </p:txBody>
      </p:sp>
      <p:sp>
        <p:nvSpPr>
          <p:cNvPr id="50" name="s1_span_arrow_24_text"/>
          <p:cNvSpPr/>
          <p:nvPr/>
        </p:nvSpPr>
        <p:spPr>
          <a:xfrm>
            <a:off x="4199692" y="4579620"/>
            <a:ext cx="3733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60" dirty="0"/>
          </a:p>
        </p:txBody>
      </p:sp>
      <p:sp>
        <p:nvSpPr>
          <p:cNvPr id="51" name="s1_span_25_text"/>
          <p:cNvSpPr/>
          <p:nvPr/>
        </p:nvSpPr>
        <p:spPr>
          <a:xfrm>
            <a:off x="4458772" y="4606290"/>
            <a:ext cx="871418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rebuild</a:t>
            </a:r>
            <a:endParaRPr lang="en-US" sz="900" dirty="0"/>
          </a:p>
        </p:txBody>
      </p:sp>
      <p:sp>
        <p:nvSpPr>
          <p:cNvPr id="52" name="s1_div_window-bar_27_text"/>
          <p:cNvSpPr/>
          <p:nvPr/>
        </p:nvSpPr>
        <p:spPr>
          <a:xfrm>
            <a:off x="6271260" y="800100"/>
            <a:ext cx="53248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LearnDeck editable presentation preview </a:t>
            </a:r>
            <a:endParaRPr lang="en-US" sz="720" dirty="0"/>
          </a:p>
        </p:txBody>
      </p:sp>
      <p:sp>
        <p:nvSpPr>
          <p:cNvPr id="53" name="s1_div_delivery-title_45_text"/>
          <p:cNvSpPr/>
          <p:nvPr/>
        </p:nvSpPr>
        <p:spPr>
          <a:xfrm>
            <a:off x="6294120" y="4168140"/>
            <a:ext cx="534314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delivery stays editable</a:t>
            </a:r>
            <a:endParaRPr lang="en-US" sz="1080" dirty="0"/>
          </a:p>
        </p:txBody>
      </p:sp>
      <p:sp>
        <p:nvSpPr>
          <p:cNvPr id="54" name="s1_div_delivery-icon_blue-gradient_48_text"/>
          <p:cNvSpPr/>
          <p:nvPr/>
        </p:nvSpPr>
        <p:spPr>
          <a:xfrm>
            <a:off x="6377940" y="4533900"/>
            <a:ext cx="419100" cy="287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1_div_delivery-name_49_text"/>
          <p:cNvSpPr/>
          <p:nvPr/>
        </p:nvSpPr>
        <p:spPr>
          <a:xfrm>
            <a:off x="6377940" y="4869180"/>
            <a:ext cx="1617393" cy="154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23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text boxes</a:t>
            </a:r>
            <a:endParaRPr lang="en-US" sz="840" dirty="0"/>
          </a:p>
        </p:txBody>
      </p:sp>
      <p:sp>
        <p:nvSpPr>
          <p:cNvPr id="56" name="s1_div_delivery-note_50_text"/>
          <p:cNvSpPr/>
          <p:nvPr/>
        </p:nvSpPr>
        <p:spPr>
          <a:xfrm>
            <a:off x="6377940" y="5027652"/>
            <a:ext cx="1580055" cy="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9"/>
              </a:lnSpc>
              <a:buNone/>
            </a:pPr>
            <a:r>
              <a:rPr lang="en-US" sz="630" dirty="0">
                <a:solidFill>
                  <a:srgbClr val="7B8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titles, body copy, and emphasis</a:t>
            </a:r>
            <a:endParaRPr lang="en-US" sz="630" dirty="0"/>
          </a:p>
        </p:txBody>
      </p:sp>
      <p:sp>
        <p:nvSpPr>
          <p:cNvPr id="57" name="s1_div_delivery-icon_teal-gradient_52_text"/>
          <p:cNvSpPr/>
          <p:nvPr/>
        </p:nvSpPr>
        <p:spPr>
          <a:xfrm>
            <a:off x="8135541" y="4533900"/>
            <a:ext cx="419100" cy="287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900" dirty="0"/>
          </a:p>
        </p:txBody>
      </p:sp>
      <p:sp>
        <p:nvSpPr>
          <p:cNvPr id="58" name="s1_div_delivery-name_53_text"/>
          <p:cNvSpPr/>
          <p:nvPr/>
        </p:nvSpPr>
        <p:spPr>
          <a:xfrm>
            <a:off x="8135541" y="4869180"/>
            <a:ext cx="1617512" cy="154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23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shapes</a:t>
            </a:r>
            <a:endParaRPr lang="en-US" sz="840" dirty="0"/>
          </a:p>
        </p:txBody>
      </p:sp>
      <p:sp>
        <p:nvSpPr>
          <p:cNvPr id="59" name="s1_div_delivery-note_54_text"/>
          <p:cNvSpPr/>
          <p:nvPr/>
        </p:nvSpPr>
        <p:spPr>
          <a:xfrm>
            <a:off x="8135541" y="5027652"/>
            <a:ext cx="1580174" cy="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9"/>
              </a:lnSpc>
              <a:buNone/>
            </a:pPr>
            <a:r>
              <a:rPr lang="en-US" sz="630" dirty="0">
                <a:solidFill>
                  <a:srgbClr val="7B8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Rearrange cards, blocks, and gradients</a:t>
            </a:r>
            <a:endParaRPr lang="en-US" sz="630" dirty="0"/>
          </a:p>
        </p:txBody>
      </p:sp>
      <p:sp>
        <p:nvSpPr>
          <p:cNvPr id="60" name="s1_div_delivery-icon_purple-gradient_56_text"/>
          <p:cNvSpPr/>
          <p:nvPr/>
        </p:nvSpPr>
        <p:spPr>
          <a:xfrm>
            <a:off x="9893260" y="4533900"/>
            <a:ext cx="419100" cy="287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900" dirty="0"/>
          </a:p>
        </p:txBody>
      </p:sp>
      <p:sp>
        <p:nvSpPr>
          <p:cNvPr id="61" name="s1_div_delivery-name_57_text"/>
          <p:cNvSpPr/>
          <p:nvPr/>
        </p:nvSpPr>
        <p:spPr>
          <a:xfrm>
            <a:off x="9893260" y="4869180"/>
            <a:ext cx="1617512" cy="154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23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icons</a:t>
            </a:r>
            <a:endParaRPr lang="en-US" sz="840" dirty="0"/>
          </a:p>
        </p:txBody>
      </p:sp>
      <p:sp>
        <p:nvSpPr>
          <p:cNvPr id="62" name="s1_div_delivery-note_58_text"/>
          <p:cNvSpPr/>
          <p:nvPr/>
        </p:nvSpPr>
        <p:spPr>
          <a:xfrm>
            <a:off x="9893260" y="5027652"/>
            <a:ext cx="1580174" cy="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9"/>
              </a:lnSpc>
              <a:buNone/>
            </a:pPr>
            <a:r>
              <a:rPr lang="en-US" sz="630" dirty="0">
                <a:solidFill>
                  <a:srgbClr val="7B8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Move, resize, or replace visual assets</a:t>
            </a:r>
            <a:endParaRPr lang="en-US" sz="630" dirty="0"/>
          </a:p>
        </p:txBody>
      </p:sp>
      <p:sp>
        <p:nvSpPr>
          <p:cNvPr id="63" name="s1_span_footer-brand_60_text"/>
          <p:cNvSpPr/>
          <p:nvPr/>
        </p:nvSpPr>
        <p:spPr>
          <a:xfrm>
            <a:off x="739140" y="6435090"/>
            <a:ext cx="794956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" kern="0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780" dirty="0"/>
          </a:p>
        </p:txBody>
      </p:sp>
      <p:sp>
        <p:nvSpPr>
          <p:cNvPr id="64" name="s1_span_61_text"/>
          <p:cNvSpPr/>
          <p:nvPr/>
        </p:nvSpPr>
        <p:spPr>
          <a:xfrm>
            <a:off x="4675584" y="6435090"/>
            <a:ext cx="2949631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knowledge into clear, polished, editable presentations.</a:t>
            </a:r>
            <a:endParaRPr lang="en-US" sz="780" dirty="0"/>
          </a:p>
        </p:txBody>
      </p:sp>
      <p:sp>
        <p:nvSpPr>
          <p:cNvPr id="65" name="s1_span_62_text"/>
          <p:cNvSpPr/>
          <p:nvPr/>
        </p:nvSpPr>
        <p:spPr>
          <a:xfrm>
            <a:off x="10766703" y="6435090"/>
            <a:ext cx="824841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→ PPTX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2_radial_background_1"/>
          <p:cNvSpPr/>
          <p:nvPr/>
        </p:nvSpPr>
        <p:spPr>
          <a:xfrm>
            <a:off x="-3429000" y="-2209800"/>
            <a:ext cx="6858000" cy="4419600"/>
          </a:xfrm>
          <a:prstGeom prst="ellipse">
            <a:avLst/>
          </a:prstGeom>
          <a:solidFill>
            <a:srgbClr val="DCE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2_radial_background_2"/>
          <p:cNvSpPr/>
          <p:nvPr/>
        </p:nvSpPr>
        <p:spPr>
          <a:xfrm>
            <a:off x="9067800" y="4876800"/>
            <a:ext cx="6248400" cy="3962400"/>
          </a:xfrm>
          <a:prstGeom prst="ellipse">
            <a:avLst/>
          </a:prstGeom>
          <a:solidFill>
            <a:srgbClr val="F7E2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2_div_eyebrow_0_shape"/>
          <p:cNvSpPr/>
          <p:nvPr/>
        </p:nvSpPr>
        <p:spPr>
          <a:xfrm>
            <a:off x="579120" y="327660"/>
            <a:ext cx="2335649" cy="274320"/>
          </a:xfrm>
          <a:prstGeom prst="roundRect">
            <a:avLst>
              <a:gd name="adj" fmla="val 50000"/>
            </a:avLst>
          </a:prstGeom>
          <a:solidFill>
            <a:srgbClr val="F7F9FF">
              <a:alpha val="90000"/>
            </a:srgbClr>
          </a:solidFill>
          <a:ln w="7620">
            <a:solidFill>
              <a:srgbClr val="D9E0FB"/>
            </a:solidFill>
            <a:prstDash val="solid"/>
          </a:ln>
        </p:spPr>
      </p:sp>
      <p:sp>
        <p:nvSpPr>
          <p:cNvPr id="6" name="s2_div_process-card_blue-gradient_5_shape"/>
          <p:cNvSpPr/>
          <p:nvPr/>
        </p:nvSpPr>
        <p:spPr>
          <a:xfrm>
            <a:off x="579120" y="1645920"/>
            <a:ext cx="2632710" cy="1562100"/>
          </a:xfrm>
          <a:prstGeom prst="roundRect">
            <a:avLst>
              <a:gd name="adj" fmla="val 10732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0688" dist="114300" dir="5400000">
              <a:srgbClr val="243D72">
                <a:alpha val="12000"/>
              </a:srgbClr>
            </a:outerShdw>
          </a:effectLst>
        </p:spPr>
      </p:sp>
      <p:sp>
        <p:nvSpPr>
          <p:cNvPr id="7" name="s2_div_icon-box_6_shape"/>
          <p:cNvSpPr/>
          <p:nvPr/>
        </p:nvSpPr>
        <p:spPr>
          <a:xfrm>
            <a:off x="746760" y="179832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2_div_process-card_teal-gradient_14_shape"/>
          <p:cNvSpPr/>
          <p:nvPr/>
        </p:nvSpPr>
        <p:spPr>
          <a:xfrm>
            <a:off x="3379470" y="1645920"/>
            <a:ext cx="2632710" cy="1562100"/>
          </a:xfrm>
          <a:prstGeom prst="roundRect">
            <a:avLst>
              <a:gd name="adj" fmla="val 10732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0688" dist="114300" dir="5400000">
              <a:srgbClr val="243D72">
                <a:alpha val="12000"/>
              </a:srgbClr>
            </a:outerShdw>
          </a:effectLst>
        </p:spPr>
      </p:sp>
      <p:sp>
        <p:nvSpPr>
          <p:cNvPr id="9" name="s2_div_icon-box_15_shape"/>
          <p:cNvSpPr/>
          <p:nvPr/>
        </p:nvSpPr>
        <p:spPr>
          <a:xfrm>
            <a:off x="3547110" y="179832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2_div_process-card_purple-gradient_22_shape"/>
          <p:cNvSpPr/>
          <p:nvPr/>
        </p:nvSpPr>
        <p:spPr>
          <a:xfrm>
            <a:off x="6179820" y="1645920"/>
            <a:ext cx="2632710" cy="1562100"/>
          </a:xfrm>
          <a:prstGeom prst="roundRect">
            <a:avLst>
              <a:gd name="adj" fmla="val 10732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0688" dist="114300" dir="5400000">
              <a:srgbClr val="243D72">
                <a:alpha val="12000"/>
              </a:srgbClr>
            </a:outerShdw>
          </a:effectLst>
        </p:spPr>
      </p:sp>
      <p:sp>
        <p:nvSpPr>
          <p:cNvPr id="11" name="s2_div_icon-box_23_shape"/>
          <p:cNvSpPr/>
          <p:nvPr/>
        </p:nvSpPr>
        <p:spPr>
          <a:xfrm>
            <a:off x="6347460" y="179832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2_div_process-card_orange-gradient_30_shape"/>
          <p:cNvSpPr/>
          <p:nvPr/>
        </p:nvSpPr>
        <p:spPr>
          <a:xfrm>
            <a:off x="8980170" y="1645920"/>
            <a:ext cx="2632710" cy="1562100"/>
          </a:xfrm>
          <a:prstGeom prst="roundRect">
            <a:avLst>
              <a:gd name="adj" fmla="val 10732"/>
            </a:avLst>
          </a:prstGeom>
          <a:gradFill rotWithShape="1">
            <a:gsLst>
              <a:gs pos="0">
                <a:srgbClr val="FF8737"/>
              </a:gs>
              <a:gs pos="100000">
                <a:srgbClr val="F15B0E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0688" dist="114300" dir="5400000">
              <a:srgbClr val="243D72">
                <a:alpha val="12000"/>
              </a:srgbClr>
            </a:outerShdw>
          </a:effectLst>
        </p:spPr>
      </p:sp>
      <p:sp>
        <p:nvSpPr>
          <p:cNvPr id="13" name="s2_div_icon-box_31_shape"/>
          <p:cNvSpPr/>
          <p:nvPr/>
        </p:nvSpPr>
        <p:spPr>
          <a:xfrm>
            <a:off x="9147810" y="179832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2_div_detail-card_39_shape"/>
          <p:cNvSpPr/>
          <p:nvPr/>
        </p:nvSpPr>
        <p:spPr>
          <a:xfrm>
            <a:off x="579120" y="3421380"/>
            <a:ext cx="3535680" cy="2674620"/>
          </a:xfrm>
          <a:prstGeom prst="roundRect">
            <a:avLst>
              <a:gd name="adj" fmla="val 5698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6EBF4"/>
            </a:solidFill>
            <a:prstDash val="solid"/>
          </a:ln>
          <a:effectLst>
            <a:outerShdw sx="100000" sy="100000" kx="0" ky="0" algn="bl" rotWithShape="0" blurRad="160020" dist="91440" dir="5400000">
              <a:srgbClr val="2A4171">
                <a:alpha val="7000"/>
              </a:srgbClr>
            </a:outerShdw>
          </a:effectLst>
        </p:spPr>
      </p:sp>
      <p:sp>
        <p:nvSpPr>
          <p:cNvPr id="15" name="s2_div_icon-box_blue-gradient_41_shape"/>
          <p:cNvSpPr/>
          <p:nvPr/>
        </p:nvSpPr>
        <p:spPr>
          <a:xfrm>
            <a:off x="777240" y="3611880"/>
            <a:ext cx="365760" cy="365760"/>
          </a:xfrm>
          <a:prstGeom prst="roundRect">
            <a:avLst>
              <a:gd name="adj" fmla="val 27083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2_span_dot_blue-dot_47_shape"/>
          <p:cNvSpPr/>
          <p:nvPr/>
        </p:nvSpPr>
        <p:spPr>
          <a:xfrm>
            <a:off x="777240" y="4191000"/>
            <a:ext cx="60960" cy="60960"/>
          </a:xfrm>
          <a:prstGeom prst="ellipse">
            <a:avLst>
              <a:gd name="adj" fmla="val 625000"/>
            </a:avLst>
          </a:prstGeom>
          <a:solidFill>
            <a:srgbClr val="2D6D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2_span_dot_blue-dot_51_shape"/>
          <p:cNvSpPr/>
          <p:nvPr/>
        </p:nvSpPr>
        <p:spPr>
          <a:xfrm>
            <a:off x="777240" y="4648200"/>
            <a:ext cx="60960" cy="60960"/>
          </a:xfrm>
          <a:prstGeom prst="ellipse">
            <a:avLst>
              <a:gd name="adj" fmla="val 625000"/>
            </a:avLst>
          </a:prstGeom>
          <a:solidFill>
            <a:srgbClr val="2D6D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2_span_dot_blue-dot_55_shape"/>
          <p:cNvSpPr/>
          <p:nvPr/>
        </p:nvSpPr>
        <p:spPr>
          <a:xfrm>
            <a:off x="777240" y="5105400"/>
            <a:ext cx="60960" cy="60960"/>
          </a:xfrm>
          <a:prstGeom prst="ellipse">
            <a:avLst>
              <a:gd name="adj" fmla="val 625000"/>
            </a:avLst>
          </a:prstGeom>
          <a:solidFill>
            <a:srgbClr val="2D6D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2_span_dot_blue-dot_59_shape"/>
          <p:cNvSpPr/>
          <p:nvPr/>
        </p:nvSpPr>
        <p:spPr>
          <a:xfrm>
            <a:off x="777240" y="5562600"/>
            <a:ext cx="60960" cy="60960"/>
          </a:xfrm>
          <a:prstGeom prst="ellipse">
            <a:avLst>
              <a:gd name="adj" fmla="val 625000"/>
            </a:avLst>
          </a:prstGeom>
          <a:solidFill>
            <a:srgbClr val="2D6D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2_div_detail-card_62_shape"/>
          <p:cNvSpPr/>
          <p:nvPr/>
        </p:nvSpPr>
        <p:spPr>
          <a:xfrm>
            <a:off x="4328160" y="3421380"/>
            <a:ext cx="3535680" cy="2674620"/>
          </a:xfrm>
          <a:prstGeom prst="roundRect">
            <a:avLst>
              <a:gd name="adj" fmla="val 5698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6EBF4"/>
            </a:solidFill>
            <a:prstDash val="solid"/>
          </a:ln>
          <a:effectLst>
            <a:outerShdw sx="100000" sy="100000" kx="0" ky="0" algn="bl" rotWithShape="0" blurRad="160020" dist="91440" dir="5400000">
              <a:srgbClr val="2A4171">
                <a:alpha val="7000"/>
              </a:srgbClr>
            </a:outerShdw>
          </a:effectLst>
        </p:spPr>
      </p:sp>
      <p:sp>
        <p:nvSpPr>
          <p:cNvPr id="21" name="s2_div_icon-box_teal-gradient_64_shape"/>
          <p:cNvSpPr/>
          <p:nvPr/>
        </p:nvSpPr>
        <p:spPr>
          <a:xfrm>
            <a:off x="4526280" y="3611880"/>
            <a:ext cx="365760" cy="365760"/>
          </a:xfrm>
          <a:prstGeom prst="roundRect">
            <a:avLst>
              <a:gd name="adj" fmla="val 27083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2_span_dot_teal-dot_71_shape"/>
          <p:cNvSpPr/>
          <p:nvPr/>
        </p:nvSpPr>
        <p:spPr>
          <a:xfrm>
            <a:off x="4526280" y="4191000"/>
            <a:ext cx="60960" cy="60960"/>
          </a:xfrm>
          <a:prstGeom prst="ellipse">
            <a:avLst>
              <a:gd name="adj" fmla="val 625000"/>
            </a:avLst>
          </a:prstGeom>
          <a:solidFill>
            <a:srgbClr val="079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2_span_dot_teal-dot_75_shape"/>
          <p:cNvSpPr/>
          <p:nvPr/>
        </p:nvSpPr>
        <p:spPr>
          <a:xfrm>
            <a:off x="4526280" y="4648200"/>
            <a:ext cx="60960" cy="60960"/>
          </a:xfrm>
          <a:prstGeom prst="ellipse">
            <a:avLst>
              <a:gd name="adj" fmla="val 625000"/>
            </a:avLst>
          </a:prstGeom>
          <a:solidFill>
            <a:srgbClr val="079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2_span_dot_teal-dot_79_shape"/>
          <p:cNvSpPr/>
          <p:nvPr/>
        </p:nvSpPr>
        <p:spPr>
          <a:xfrm>
            <a:off x="4526280" y="5105400"/>
            <a:ext cx="60960" cy="60960"/>
          </a:xfrm>
          <a:prstGeom prst="ellipse">
            <a:avLst>
              <a:gd name="adj" fmla="val 625000"/>
            </a:avLst>
          </a:prstGeom>
          <a:solidFill>
            <a:srgbClr val="079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2_span_dot_teal-dot_83_shape"/>
          <p:cNvSpPr/>
          <p:nvPr/>
        </p:nvSpPr>
        <p:spPr>
          <a:xfrm>
            <a:off x="4526280" y="5562600"/>
            <a:ext cx="60960" cy="60960"/>
          </a:xfrm>
          <a:prstGeom prst="ellipse">
            <a:avLst>
              <a:gd name="adj" fmla="val 625000"/>
            </a:avLst>
          </a:prstGeom>
          <a:solidFill>
            <a:srgbClr val="079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2_div_detail-card_86_shape"/>
          <p:cNvSpPr/>
          <p:nvPr/>
        </p:nvSpPr>
        <p:spPr>
          <a:xfrm>
            <a:off x="8077200" y="3421380"/>
            <a:ext cx="3535680" cy="2674620"/>
          </a:xfrm>
          <a:prstGeom prst="roundRect">
            <a:avLst>
              <a:gd name="adj" fmla="val 5698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6EBF4"/>
            </a:solidFill>
            <a:prstDash val="solid"/>
          </a:ln>
          <a:effectLst>
            <a:outerShdw sx="100000" sy="100000" kx="0" ky="0" algn="bl" rotWithShape="0" blurRad="160020" dist="91440" dir="5400000">
              <a:srgbClr val="2A4171">
                <a:alpha val="7000"/>
              </a:srgbClr>
            </a:outerShdw>
          </a:effectLst>
        </p:spPr>
      </p:sp>
      <p:sp>
        <p:nvSpPr>
          <p:cNvPr id="27" name="s2_div_icon-box_purple-gradient_88_shape"/>
          <p:cNvSpPr/>
          <p:nvPr/>
        </p:nvSpPr>
        <p:spPr>
          <a:xfrm>
            <a:off x="8275320" y="3611880"/>
            <a:ext cx="365760" cy="365760"/>
          </a:xfrm>
          <a:prstGeom prst="roundRect">
            <a:avLst>
              <a:gd name="adj" fmla="val 27083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2_span_dot_purple-dot_95_shape"/>
          <p:cNvSpPr/>
          <p:nvPr/>
        </p:nvSpPr>
        <p:spPr>
          <a:xfrm>
            <a:off x="8275320" y="4191000"/>
            <a:ext cx="60960" cy="60960"/>
          </a:xfrm>
          <a:prstGeom prst="ellipse">
            <a:avLst>
              <a:gd name="adj" fmla="val 625000"/>
            </a:avLst>
          </a:prstGeom>
          <a:solidFill>
            <a:srgbClr val="7A3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2_span_dot_purple-dot_99_shape"/>
          <p:cNvSpPr/>
          <p:nvPr/>
        </p:nvSpPr>
        <p:spPr>
          <a:xfrm>
            <a:off x="8275320" y="4648200"/>
            <a:ext cx="60960" cy="60960"/>
          </a:xfrm>
          <a:prstGeom prst="ellipse">
            <a:avLst>
              <a:gd name="adj" fmla="val 625000"/>
            </a:avLst>
          </a:prstGeom>
          <a:solidFill>
            <a:srgbClr val="7A3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2_span_dot_purple-dot_103_shape"/>
          <p:cNvSpPr/>
          <p:nvPr/>
        </p:nvSpPr>
        <p:spPr>
          <a:xfrm>
            <a:off x="8275320" y="5105400"/>
            <a:ext cx="60960" cy="60960"/>
          </a:xfrm>
          <a:prstGeom prst="ellipse">
            <a:avLst>
              <a:gd name="adj" fmla="val 625000"/>
            </a:avLst>
          </a:prstGeom>
          <a:solidFill>
            <a:srgbClr val="7A3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2_span_dot_purple-dot_107_shape"/>
          <p:cNvSpPr/>
          <p:nvPr/>
        </p:nvSpPr>
        <p:spPr>
          <a:xfrm>
            <a:off x="8275320" y="5562600"/>
            <a:ext cx="60960" cy="60960"/>
          </a:xfrm>
          <a:prstGeom prst="ellipse">
            <a:avLst>
              <a:gd name="adj" fmla="val 625000"/>
            </a:avLst>
          </a:prstGeom>
          <a:solidFill>
            <a:srgbClr val="7A3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2_div_footer-bar_110_shape"/>
          <p:cNvSpPr/>
          <p:nvPr/>
        </p:nvSpPr>
        <p:spPr>
          <a:xfrm>
            <a:off x="579120" y="6309360"/>
            <a:ext cx="11033760" cy="365760"/>
          </a:xfrm>
          <a:prstGeom prst="roundRect">
            <a:avLst>
              <a:gd name="adj" fmla="val 31250"/>
            </a:avLst>
          </a:prstGeom>
          <a:gradFill rotWithShape="1">
            <a:gsLst>
              <a:gs pos="0">
                <a:srgbClr val="F2F5FF"/>
              </a:gs>
              <a:gs pos="100000">
                <a:srgbClr val="FFF7FB"/>
              </a:gs>
            </a:gsLst>
            <a:lin ang="6300000" scaled="1"/>
          </a:gradFill>
          <a:ln w="7620">
            <a:solidFill>
              <a:srgbClr val="E2E7F5"/>
            </a:solidFill>
            <a:prstDash val="solid"/>
          </a:ln>
        </p:spPr>
      </p:sp>
      <p:pic>
        <p:nvPicPr>
          <p:cNvPr id="33" name="s2_svg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213360" cy="213360"/>
          </a:xfrm>
          <a:prstGeom prst="rect">
            <a:avLst/>
          </a:prstGeom>
        </p:spPr>
      </p:pic>
      <p:pic>
        <p:nvPicPr>
          <p:cNvPr id="34" name="s2_svg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1874520"/>
            <a:ext cx="213360" cy="213360"/>
          </a:xfrm>
          <a:prstGeom prst="rect">
            <a:avLst/>
          </a:prstGeom>
        </p:spPr>
      </p:pic>
      <p:pic>
        <p:nvPicPr>
          <p:cNvPr id="35" name="s2_svg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874520"/>
            <a:ext cx="213360" cy="213360"/>
          </a:xfrm>
          <a:prstGeom prst="rect">
            <a:avLst/>
          </a:prstGeom>
        </p:spPr>
      </p:pic>
      <p:pic>
        <p:nvPicPr>
          <p:cNvPr id="36" name="s2_svg_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010" y="1874520"/>
            <a:ext cx="213360" cy="213360"/>
          </a:xfrm>
          <a:prstGeom prst="rect">
            <a:avLst/>
          </a:prstGeom>
        </p:spPr>
      </p:pic>
      <p:pic>
        <p:nvPicPr>
          <p:cNvPr id="37" name="s2_svg_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" y="3688080"/>
            <a:ext cx="213360" cy="213360"/>
          </a:xfrm>
          <a:prstGeom prst="rect">
            <a:avLst/>
          </a:prstGeom>
        </p:spPr>
      </p:pic>
      <p:pic>
        <p:nvPicPr>
          <p:cNvPr id="38" name="s2_svg_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2480" y="3688080"/>
            <a:ext cx="213360" cy="213360"/>
          </a:xfrm>
          <a:prstGeom prst="rect">
            <a:avLst/>
          </a:prstGeom>
        </p:spPr>
      </p:pic>
      <p:pic>
        <p:nvPicPr>
          <p:cNvPr id="39" name="s2_svg_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1520" y="3688080"/>
            <a:ext cx="213360" cy="213360"/>
          </a:xfrm>
          <a:prstGeom prst="rect">
            <a:avLst/>
          </a:prstGeom>
        </p:spPr>
      </p:pic>
      <p:sp>
        <p:nvSpPr>
          <p:cNvPr id="40" name="s2_div_eyebrow_0_text"/>
          <p:cNvSpPr/>
          <p:nvPr/>
        </p:nvSpPr>
        <p:spPr>
          <a:xfrm>
            <a:off x="716280" y="327660"/>
            <a:ext cx="2221349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900" b="1" spc="48" kern="0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 · 04 STAGES</a:t>
            </a:r>
            <a:endParaRPr lang="en-US" sz="900" dirty="0"/>
          </a:p>
        </p:txBody>
      </p:sp>
      <p:sp>
        <p:nvSpPr>
          <p:cNvPr id="41" name="s2_div_page-num_1_text"/>
          <p:cNvSpPr/>
          <p:nvPr/>
        </p:nvSpPr>
        <p:spPr>
          <a:xfrm>
            <a:off x="11209972" y="388620"/>
            <a:ext cx="562927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9AA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04</a:t>
            </a:r>
            <a:endParaRPr lang="en-US" sz="900" dirty="0"/>
          </a:p>
        </p:txBody>
      </p:sp>
      <p:sp>
        <p:nvSpPr>
          <p:cNvPr id="42" name="s2_h1_slide-title_en-title_2_text"/>
          <p:cNvSpPr/>
          <p:nvPr/>
        </p:nvSpPr>
        <p:spPr>
          <a:xfrm>
            <a:off x="579120" y="784860"/>
            <a:ext cx="10957560" cy="41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2400" b="1" spc="-42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stages turn knowledge into a deck people can follow</a:t>
            </a:r>
            <a:endParaRPr lang="en-US" sz="2400" dirty="0"/>
          </a:p>
        </p:txBody>
      </p:sp>
      <p:sp>
        <p:nvSpPr>
          <p:cNvPr id="43" name="s2_p_slide-subtitle_3_text"/>
          <p:cNvSpPr/>
          <p:nvPr/>
        </p:nvSpPr>
        <p:spPr>
          <a:xfrm>
            <a:off x="579120" y="1264920"/>
            <a:ext cx="8574024" cy="246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080" dirty="0">
                <a:solidFill>
                  <a:srgbClr val="657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source material to editable delivery, structure, visual design, and technical conversion happen in one workflow.</a:t>
            </a:r>
            <a:endParaRPr lang="en-US" sz="1080" dirty="0"/>
          </a:p>
        </p:txBody>
      </p:sp>
      <p:sp>
        <p:nvSpPr>
          <p:cNvPr id="44" name="s2_div_process-num_11_text"/>
          <p:cNvSpPr/>
          <p:nvPr/>
        </p:nvSpPr>
        <p:spPr>
          <a:xfrm>
            <a:off x="2712720" y="1828800"/>
            <a:ext cx="552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45" name="s2_div_process-name_12_text"/>
          <p:cNvSpPr/>
          <p:nvPr/>
        </p:nvSpPr>
        <p:spPr>
          <a:xfrm>
            <a:off x="746760" y="2278380"/>
            <a:ext cx="2510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content</a:t>
            </a:r>
            <a:endParaRPr lang="en-US" sz="1440" dirty="0"/>
          </a:p>
        </p:txBody>
      </p:sp>
      <p:sp>
        <p:nvSpPr>
          <p:cNvPr id="46" name="s2_div_process-note_13_text"/>
          <p:cNvSpPr/>
          <p:nvPr/>
        </p:nvSpPr>
        <p:spPr>
          <a:xfrm>
            <a:off x="746760" y="2606040"/>
            <a:ext cx="246811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/ outlines / notes / long documents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knowledge instead of a blank slide</a:t>
            </a:r>
            <a:endParaRPr lang="en-US" sz="960" dirty="0"/>
          </a:p>
        </p:txBody>
      </p:sp>
      <p:sp>
        <p:nvSpPr>
          <p:cNvPr id="47" name="s2_div_process-num_19_text"/>
          <p:cNvSpPr/>
          <p:nvPr/>
        </p:nvSpPr>
        <p:spPr>
          <a:xfrm>
            <a:off x="5513070" y="1828800"/>
            <a:ext cx="552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48" name="s2_div_process-name_20_text"/>
          <p:cNvSpPr/>
          <p:nvPr/>
        </p:nvSpPr>
        <p:spPr>
          <a:xfrm>
            <a:off x="3547110" y="2278380"/>
            <a:ext cx="2510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shapes it</a:t>
            </a:r>
            <a:endParaRPr lang="en-US" sz="1440" dirty="0"/>
          </a:p>
        </p:txBody>
      </p:sp>
      <p:sp>
        <p:nvSpPr>
          <p:cNvPr id="49" name="s2_div_process-note_21_text"/>
          <p:cNvSpPr/>
          <p:nvPr/>
        </p:nvSpPr>
        <p:spPr>
          <a:xfrm>
            <a:off x="3547110" y="2606040"/>
            <a:ext cx="246811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titles, key points, examples, and takeaways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every slide one clear job</a:t>
            </a:r>
            <a:endParaRPr lang="en-US" sz="960" dirty="0"/>
          </a:p>
        </p:txBody>
      </p:sp>
      <p:sp>
        <p:nvSpPr>
          <p:cNvPr id="50" name="s2_div_process-num_27_text"/>
          <p:cNvSpPr/>
          <p:nvPr/>
        </p:nvSpPr>
        <p:spPr>
          <a:xfrm>
            <a:off x="8313420" y="1828800"/>
            <a:ext cx="552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51" name="s2_div_process-name_28_text"/>
          <p:cNvSpPr/>
          <p:nvPr/>
        </p:nvSpPr>
        <p:spPr>
          <a:xfrm>
            <a:off x="6347460" y="2278380"/>
            <a:ext cx="2510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visuals</a:t>
            </a:r>
            <a:endParaRPr lang="en-US" sz="1440" dirty="0"/>
          </a:p>
        </p:txBody>
      </p:sp>
      <p:sp>
        <p:nvSpPr>
          <p:cNvPr id="52" name="s2_div_process-note_29_text"/>
          <p:cNvSpPr/>
          <p:nvPr/>
        </p:nvSpPr>
        <p:spPr>
          <a:xfrm>
            <a:off x="6347460" y="2606040"/>
            <a:ext cx="246811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layout, color, hierarchy, and whitespace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exact geometry in the browser</a:t>
            </a:r>
            <a:endParaRPr lang="en-US" sz="960" dirty="0"/>
          </a:p>
        </p:txBody>
      </p:sp>
      <p:sp>
        <p:nvSpPr>
          <p:cNvPr id="53" name="s2_div_process-num_35_text"/>
          <p:cNvSpPr/>
          <p:nvPr/>
        </p:nvSpPr>
        <p:spPr>
          <a:xfrm>
            <a:off x="11113770" y="1828800"/>
            <a:ext cx="552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54" name="s2_div_process-name_36_text"/>
          <p:cNvSpPr/>
          <p:nvPr/>
        </p:nvSpPr>
        <p:spPr>
          <a:xfrm>
            <a:off x="9147810" y="2278380"/>
            <a:ext cx="2510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editable</a:t>
            </a:r>
            <a:endParaRPr lang="en-US" sz="1440" dirty="0"/>
          </a:p>
        </p:txBody>
      </p:sp>
      <p:sp>
        <p:nvSpPr>
          <p:cNvPr id="55" name="s2_div_process-note_37_text"/>
          <p:cNvSpPr/>
          <p:nvPr/>
        </p:nvSpPr>
        <p:spPr>
          <a:xfrm>
            <a:off x="9147810" y="2606040"/>
            <a:ext cx="246811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text, shapes, gradients, and icons separate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revising and reusing the result</a:t>
            </a:r>
            <a:endParaRPr lang="en-US" sz="960" dirty="0"/>
          </a:p>
        </p:txBody>
      </p:sp>
      <p:sp>
        <p:nvSpPr>
          <p:cNvPr id="56" name="s2_div_detail-title_44_text"/>
          <p:cNvSpPr/>
          <p:nvPr/>
        </p:nvSpPr>
        <p:spPr>
          <a:xfrm>
            <a:off x="1264920" y="3684984"/>
            <a:ext cx="1961436" cy="26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narrative</a:t>
            </a:r>
            <a:endParaRPr lang="en-US" sz="1440" dirty="0"/>
          </a:p>
        </p:txBody>
      </p:sp>
      <p:sp>
        <p:nvSpPr>
          <p:cNvPr id="57" name="s2_div_detail-copy_48_text"/>
          <p:cNvSpPr/>
          <p:nvPr/>
        </p:nvSpPr>
        <p:spPr>
          <a:xfrm>
            <a:off x="944880" y="41300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claim per slide: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avoid pouring raw material onto the canvas</a:t>
            </a:r>
            <a:endParaRPr lang="en-US" sz="948" dirty="0"/>
          </a:p>
        </p:txBody>
      </p:sp>
      <p:sp>
        <p:nvSpPr>
          <p:cNvPr id="58" name="s2_div_detail-copy_52_text"/>
          <p:cNvSpPr/>
          <p:nvPr/>
        </p:nvSpPr>
        <p:spPr>
          <a:xfrm>
            <a:off x="944880" y="45872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learning path: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each page build on the last</a:t>
            </a:r>
            <a:endParaRPr lang="en-US" sz="948" dirty="0"/>
          </a:p>
        </p:txBody>
      </p:sp>
      <p:sp>
        <p:nvSpPr>
          <p:cNvPr id="59" name="s2_div_detail-copy_56_text"/>
          <p:cNvSpPr/>
          <p:nvPr/>
        </p:nvSpPr>
        <p:spPr>
          <a:xfrm>
            <a:off x="944880" y="50444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evidence and takeaways: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hierarchy easy to scan</a:t>
            </a:r>
            <a:endParaRPr lang="en-US" sz="948" dirty="0"/>
          </a:p>
        </p:txBody>
      </p:sp>
      <p:sp>
        <p:nvSpPr>
          <p:cNvPr id="60" name="s2_div_detail-copy_60_text"/>
          <p:cNvSpPr/>
          <p:nvPr/>
        </p:nvSpPr>
        <p:spPr>
          <a:xfrm>
            <a:off x="944880" y="55016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long content: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protect density and presentation rhythm</a:t>
            </a:r>
            <a:endParaRPr lang="en-US" sz="948" dirty="0"/>
          </a:p>
        </p:txBody>
      </p:sp>
      <p:sp>
        <p:nvSpPr>
          <p:cNvPr id="61" name="s2_div_detail-title_68_text"/>
          <p:cNvSpPr/>
          <p:nvPr/>
        </p:nvSpPr>
        <p:spPr>
          <a:xfrm>
            <a:off x="5013960" y="3684984"/>
            <a:ext cx="1429941" cy="26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system</a:t>
            </a:r>
            <a:endParaRPr lang="en-US" sz="1440" dirty="0"/>
          </a:p>
        </p:txBody>
      </p:sp>
      <p:sp>
        <p:nvSpPr>
          <p:cNvPr id="62" name="s2_div_detail-copy_72_text"/>
          <p:cNvSpPr/>
          <p:nvPr/>
        </p:nvSpPr>
        <p:spPr>
          <a:xfrm>
            <a:off x="4693920" y="41300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16:9 canvas: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margins, grids, and alignment consistent</a:t>
            </a:r>
            <a:endParaRPr lang="en-US" sz="948" dirty="0"/>
          </a:p>
        </p:txBody>
      </p:sp>
      <p:sp>
        <p:nvSpPr>
          <p:cNvPr id="63" name="s2_div_detail-copy_76_text"/>
          <p:cNvSpPr/>
          <p:nvPr/>
        </p:nvSpPr>
        <p:spPr>
          <a:xfrm>
            <a:off x="4693920" y="45872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visual language: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gradients, radii, shadows, and accents</a:t>
            </a:r>
            <a:endParaRPr lang="en-US" sz="948" dirty="0"/>
          </a:p>
        </p:txBody>
      </p:sp>
      <p:sp>
        <p:nvSpPr>
          <p:cNvPr id="64" name="s2_div_detail-copy_80_text"/>
          <p:cNvSpPr/>
          <p:nvPr/>
        </p:nvSpPr>
        <p:spPr>
          <a:xfrm>
            <a:off x="4693920" y="50444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geometry first: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manual math and layout drift</a:t>
            </a:r>
            <a:endParaRPr lang="en-US" sz="948" dirty="0"/>
          </a:p>
        </p:txBody>
      </p:sp>
      <p:sp>
        <p:nvSpPr>
          <p:cNvPr id="65" name="s2_div_detail-copy_84_text"/>
          <p:cNvSpPr/>
          <p:nvPr/>
        </p:nvSpPr>
        <p:spPr>
          <a:xfrm>
            <a:off x="4693920" y="55016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Language-aware fitting: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tune fonts, wrapping, and information density</a:t>
            </a:r>
            <a:endParaRPr lang="en-US" sz="948" dirty="0"/>
          </a:p>
        </p:txBody>
      </p:sp>
      <p:sp>
        <p:nvSpPr>
          <p:cNvPr id="66" name="s2_div_detail-title_92_text"/>
          <p:cNvSpPr/>
          <p:nvPr/>
        </p:nvSpPr>
        <p:spPr>
          <a:xfrm>
            <a:off x="8763000" y="3684984"/>
            <a:ext cx="1666875" cy="26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delivery</a:t>
            </a:r>
            <a:endParaRPr lang="en-US" sz="1440" dirty="0"/>
          </a:p>
        </p:txBody>
      </p:sp>
      <p:sp>
        <p:nvSpPr>
          <p:cNvPr id="67" name="s2_div_detail-copy_96_text"/>
          <p:cNvSpPr/>
          <p:nvPr/>
        </p:nvSpPr>
        <p:spPr>
          <a:xfrm>
            <a:off x="8442960" y="41300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text boxes: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edit titles, body copy, and emphasis</a:t>
            </a:r>
            <a:endParaRPr lang="en-US" sz="948" dirty="0"/>
          </a:p>
        </p:txBody>
      </p:sp>
      <p:sp>
        <p:nvSpPr>
          <p:cNvPr id="68" name="s2_div_detail-copy_100_text"/>
          <p:cNvSpPr/>
          <p:nvPr/>
        </p:nvSpPr>
        <p:spPr>
          <a:xfrm>
            <a:off x="8442960" y="45872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shapes and gradients: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rearrange cards and backgrounds</a:t>
            </a:r>
            <a:endParaRPr lang="en-US" sz="948" dirty="0"/>
          </a:p>
        </p:txBody>
      </p:sp>
      <p:sp>
        <p:nvSpPr>
          <p:cNvPr id="69" name="s2_div_detail-copy_104_text"/>
          <p:cNvSpPr/>
          <p:nvPr/>
        </p:nvSpPr>
        <p:spPr>
          <a:xfrm>
            <a:off x="8442960" y="50444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icon assets: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move, resize, or replace them</a:t>
            </a:r>
            <a:endParaRPr lang="en-US" sz="948" dirty="0"/>
          </a:p>
        </p:txBody>
      </p:sp>
      <p:sp>
        <p:nvSpPr>
          <p:cNvPr id="70" name="s2_div_detail-copy_108_text"/>
          <p:cNvSpPr/>
          <p:nvPr/>
        </p:nvSpPr>
        <p:spPr>
          <a:xfrm>
            <a:off x="8442960" y="5501640"/>
            <a:ext cx="3140354" cy="395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HTML source: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revise without rebuilding from scratch</a:t>
            </a:r>
            <a:endParaRPr lang="en-US" sz="948" dirty="0"/>
          </a:p>
        </p:txBody>
      </p:sp>
      <p:sp>
        <p:nvSpPr>
          <p:cNvPr id="71" name="s2_span_footer-brand_111_text"/>
          <p:cNvSpPr/>
          <p:nvPr/>
        </p:nvSpPr>
        <p:spPr>
          <a:xfrm>
            <a:off x="739140" y="6435090"/>
            <a:ext cx="794956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" kern="0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780" dirty="0"/>
          </a:p>
        </p:txBody>
      </p:sp>
      <p:sp>
        <p:nvSpPr>
          <p:cNvPr id="72" name="s2_span_112_text"/>
          <p:cNvSpPr/>
          <p:nvPr/>
        </p:nvSpPr>
        <p:spPr>
          <a:xfrm>
            <a:off x="4593788" y="6435090"/>
            <a:ext cx="3496366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visual composition, and editable conversion in one workflow</a:t>
            </a:r>
            <a:endParaRPr lang="en-US" sz="780" dirty="0"/>
          </a:p>
        </p:txBody>
      </p:sp>
      <p:sp>
        <p:nvSpPr>
          <p:cNvPr id="73" name="s2_span_113_text"/>
          <p:cNvSpPr/>
          <p:nvPr/>
        </p:nvSpPr>
        <p:spPr>
          <a:xfrm>
            <a:off x="11149846" y="6435090"/>
            <a:ext cx="441698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04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3_radial_background_1"/>
          <p:cNvSpPr/>
          <p:nvPr/>
        </p:nvSpPr>
        <p:spPr>
          <a:xfrm>
            <a:off x="-3429000" y="-2209800"/>
            <a:ext cx="6858000" cy="4419600"/>
          </a:xfrm>
          <a:prstGeom prst="ellipse">
            <a:avLst/>
          </a:prstGeom>
          <a:solidFill>
            <a:srgbClr val="DCE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3_radial_background_2"/>
          <p:cNvSpPr/>
          <p:nvPr/>
        </p:nvSpPr>
        <p:spPr>
          <a:xfrm>
            <a:off x="9067800" y="4876800"/>
            <a:ext cx="6248400" cy="3962400"/>
          </a:xfrm>
          <a:prstGeom prst="ellipse">
            <a:avLst/>
          </a:prstGeom>
          <a:solidFill>
            <a:srgbClr val="F7E2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3_div_eyebrow_0_shape"/>
          <p:cNvSpPr/>
          <p:nvPr/>
        </p:nvSpPr>
        <p:spPr>
          <a:xfrm>
            <a:off x="579120" y="327660"/>
            <a:ext cx="3138130" cy="274320"/>
          </a:xfrm>
          <a:prstGeom prst="roundRect">
            <a:avLst>
              <a:gd name="adj" fmla="val 50000"/>
            </a:avLst>
          </a:prstGeom>
          <a:solidFill>
            <a:srgbClr val="F7F9FF">
              <a:alpha val="90000"/>
            </a:srgbClr>
          </a:solidFill>
          <a:ln w="7620">
            <a:solidFill>
              <a:srgbClr val="D9E0FB"/>
            </a:solidFill>
            <a:prstDash val="solid"/>
          </a:ln>
        </p:spPr>
      </p:sp>
      <p:sp>
        <p:nvSpPr>
          <p:cNvPr id="6" name="s3_div_workflow-card_5_shape"/>
          <p:cNvSpPr/>
          <p:nvPr/>
        </p:nvSpPr>
        <p:spPr>
          <a:xfrm>
            <a:off x="579120" y="1706880"/>
            <a:ext cx="263271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2E7F1"/>
            </a:solidFill>
            <a:prstDash val="solid"/>
          </a:ln>
          <a:effectLst>
            <a:outerShdw sx="100000" sy="100000" kx="0" ky="0" algn="bl" rotWithShape="0" blurRad="186690" dist="114300" dir="5400000">
              <a:srgbClr val="263A68">
                <a:alpha val="9000"/>
              </a:srgbClr>
            </a:outerShdw>
          </a:effectLst>
        </p:spPr>
      </p:sp>
      <p:sp>
        <p:nvSpPr>
          <p:cNvPr id="7" name="s3_div_workflow-band_blue-gradient_6_shape"/>
          <p:cNvSpPr/>
          <p:nvPr/>
        </p:nvSpPr>
        <p:spPr>
          <a:xfrm>
            <a:off x="586740" y="1714500"/>
            <a:ext cx="2617470" cy="701040"/>
          </a:xfrm>
          <a:prstGeom prst="rect">
            <a:avLst/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3_div_icon-box_workflow-icon_8_shape"/>
          <p:cNvSpPr/>
          <p:nvPr/>
        </p:nvSpPr>
        <p:spPr>
          <a:xfrm>
            <a:off x="2686050" y="186690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3_div_workflow-card_16_shape"/>
          <p:cNvSpPr/>
          <p:nvPr/>
        </p:nvSpPr>
        <p:spPr>
          <a:xfrm>
            <a:off x="3379470" y="1706880"/>
            <a:ext cx="263271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2E7F1"/>
            </a:solidFill>
            <a:prstDash val="solid"/>
          </a:ln>
          <a:effectLst>
            <a:outerShdw sx="100000" sy="100000" kx="0" ky="0" algn="bl" rotWithShape="0" blurRad="186690" dist="114300" dir="5400000">
              <a:srgbClr val="263A68">
                <a:alpha val="9000"/>
              </a:srgbClr>
            </a:outerShdw>
          </a:effectLst>
        </p:spPr>
      </p:sp>
      <p:sp>
        <p:nvSpPr>
          <p:cNvPr id="10" name="s3_div_workflow-band_teal-gradient_17_shape"/>
          <p:cNvSpPr/>
          <p:nvPr/>
        </p:nvSpPr>
        <p:spPr>
          <a:xfrm>
            <a:off x="3387090" y="1714500"/>
            <a:ext cx="2617470" cy="701040"/>
          </a:xfrm>
          <a:prstGeom prst="rect">
            <a:avLst/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3_div_icon-box_workflow-icon_19_shape"/>
          <p:cNvSpPr/>
          <p:nvPr/>
        </p:nvSpPr>
        <p:spPr>
          <a:xfrm>
            <a:off x="5486400" y="186690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3_div_workflow-card_26_shape"/>
          <p:cNvSpPr/>
          <p:nvPr/>
        </p:nvSpPr>
        <p:spPr>
          <a:xfrm>
            <a:off x="6179820" y="1706880"/>
            <a:ext cx="263271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2E7F1"/>
            </a:solidFill>
            <a:prstDash val="solid"/>
          </a:ln>
          <a:effectLst>
            <a:outerShdw sx="100000" sy="100000" kx="0" ky="0" algn="bl" rotWithShape="0" blurRad="186690" dist="114300" dir="5400000">
              <a:srgbClr val="263A68">
                <a:alpha val="9000"/>
              </a:srgbClr>
            </a:outerShdw>
          </a:effectLst>
        </p:spPr>
      </p:sp>
      <p:sp>
        <p:nvSpPr>
          <p:cNvPr id="13" name="s3_div_workflow-band_purple-gradient_27_shape"/>
          <p:cNvSpPr/>
          <p:nvPr/>
        </p:nvSpPr>
        <p:spPr>
          <a:xfrm>
            <a:off x="6187440" y="1714500"/>
            <a:ext cx="2617470" cy="701040"/>
          </a:xfrm>
          <a:prstGeom prst="rect">
            <a:avLst/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3_div_icon-box_workflow-icon_29_shape"/>
          <p:cNvSpPr/>
          <p:nvPr/>
        </p:nvSpPr>
        <p:spPr>
          <a:xfrm>
            <a:off x="8286750" y="186690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3_div_workflow-card_36_shape"/>
          <p:cNvSpPr/>
          <p:nvPr/>
        </p:nvSpPr>
        <p:spPr>
          <a:xfrm>
            <a:off x="8980170" y="1706880"/>
            <a:ext cx="263271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2E7F1"/>
            </a:solidFill>
            <a:prstDash val="solid"/>
          </a:ln>
          <a:effectLst>
            <a:outerShdw sx="100000" sy="100000" kx="0" ky="0" algn="bl" rotWithShape="0" blurRad="186690" dist="114300" dir="5400000">
              <a:srgbClr val="263A68">
                <a:alpha val="9000"/>
              </a:srgbClr>
            </a:outerShdw>
          </a:effectLst>
        </p:spPr>
      </p:sp>
      <p:sp>
        <p:nvSpPr>
          <p:cNvPr id="16" name="s3_div_workflow-band_orange-gradient_37_shape"/>
          <p:cNvSpPr/>
          <p:nvPr/>
        </p:nvSpPr>
        <p:spPr>
          <a:xfrm>
            <a:off x="8987790" y="1714500"/>
            <a:ext cx="2617470" cy="701040"/>
          </a:xfrm>
          <a:prstGeom prst="rect">
            <a:avLst/>
          </a:prstGeom>
          <a:gradFill rotWithShape="1">
            <a:gsLst>
              <a:gs pos="0">
                <a:srgbClr val="FF8737"/>
              </a:gs>
              <a:gs pos="100000">
                <a:srgbClr val="F15B0E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3_div_icon-box_workflow-icon_39_shape"/>
          <p:cNvSpPr/>
          <p:nvPr/>
        </p:nvSpPr>
        <p:spPr>
          <a:xfrm>
            <a:off x="11087100" y="186690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3_div_proof-lead_47_shape"/>
          <p:cNvSpPr/>
          <p:nvPr/>
        </p:nvSpPr>
        <p:spPr>
          <a:xfrm>
            <a:off x="579120" y="4381500"/>
            <a:ext cx="2943463" cy="1649730"/>
          </a:xfrm>
          <a:prstGeom prst="roundRect">
            <a:avLst>
              <a:gd name="adj" fmla="val 9238"/>
            </a:avLst>
          </a:prstGeom>
          <a:gradFill rotWithShape="1">
            <a:gsLst>
              <a:gs pos="0">
                <a:srgbClr val="1B2D50"/>
              </a:gs>
              <a:gs pos="100000">
                <a:srgbClr val="33477A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81356" dist="106680" dir="5400000">
              <a:srgbClr val="1D2D52">
                <a:alpha val="17000"/>
              </a:srgbClr>
            </a:outerShdw>
          </a:effectLst>
        </p:spPr>
      </p:sp>
      <p:sp>
        <p:nvSpPr>
          <p:cNvPr id="19" name="s3_div_proof-card_51_shape"/>
          <p:cNvSpPr/>
          <p:nvPr/>
        </p:nvSpPr>
        <p:spPr>
          <a:xfrm>
            <a:off x="3659743" y="4381500"/>
            <a:ext cx="2559606" cy="1649730"/>
          </a:xfrm>
          <a:prstGeom prst="roundRect">
            <a:avLst>
              <a:gd name="adj" fmla="val 9238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38684" dist="76200" dir="5400000">
              <a:srgbClr val="263A68">
                <a:alpha val="7000"/>
              </a:srgbClr>
            </a:outerShdw>
          </a:effectLst>
        </p:spPr>
      </p:sp>
      <p:sp>
        <p:nvSpPr>
          <p:cNvPr id="20" name="s3_div_icon-box_proof-icon_blue-gradient_52_shape"/>
          <p:cNvSpPr/>
          <p:nvPr/>
        </p:nvSpPr>
        <p:spPr>
          <a:xfrm>
            <a:off x="3842623" y="4572000"/>
            <a:ext cx="320040" cy="32004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3_div_proof-card_58_shape"/>
          <p:cNvSpPr/>
          <p:nvPr/>
        </p:nvSpPr>
        <p:spPr>
          <a:xfrm>
            <a:off x="6356509" y="4381500"/>
            <a:ext cx="2559606" cy="1649730"/>
          </a:xfrm>
          <a:prstGeom prst="roundRect">
            <a:avLst>
              <a:gd name="adj" fmla="val 9238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38684" dist="76200" dir="5400000">
              <a:srgbClr val="263A68">
                <a:alpha val="7000"/>
              </a:srgbClr>
            </a:outerShdw>
          </a:effectLst>
        </p:spPr>
      </p:sp>
      <p:sp>
        <p:nvSpPr>
          <p:cNvPr id="22" name="s3_div_icon-box_proof-icon_teal-gradient_59_shape"/>
          <p:cNvSpPr/>
          <p:nvPr/>
        </p:nvSpPr>
        <p:spPr>
          <a:xfrm>
            <a:off x="6539389" y="4572000"/>
            <a:ext cx="320040" cy="32004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3_div_proof-card_65_shape"/>
          <p:cNvSpPr/>
          <p:nvPr/>
        </p:nvSpPr>
        <p:spPr>
          <a:xfrm>
            <a:off x="9053274" y="4381500"/>
            <a:ext cx="2559487" cy="1649730"/>
          </a:xfrm>
          <a:prstGeom prst="roundRect">
            <a:avLst>
              <a:gd name="adj" fmla="val 9238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38684" dist="76200" dir="5400000">
              <a:srgbClr val="263A68">
                <a:alpha val="7000"/>
              </a:srgbClr>
            </a:outerShdw>
          </a:effectLst>
        </p:spPr>
      </p:sp>
      <p:sp>
        <p:nvSpPr>
          <p:cNvPr id="24" name="s3_div_icon-box_proof-icon_purple-gradient_66_shape"/>
          <p:cNvSpPr/>
          <p:nvPr/>
        </p:nvSpPr>
        <p:spPr>
          <a:xfrm>
            <a:off x="9236154" y="4572000"/>
            <a:ext cx="320040" cy="32004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3_div_footer-bar_71_shape"/>
          <p:cNvSpPr/>
          <p:nvPr/>
        </p:nvSpPr>
        <p:spPr>
          <a:xfrm>
            <a:off x="579120" y="6309360"/>
            <a:ext cx="11033760" cy="365760"/>
          </a:xfrm>
          <a:prstGeom prst="roundRect">
            <a:avLst>
              <a:gd name="adj" fmla="val 31250"/>
            </a:avLst>
          </a:prstGeom>
          <a:gradFill rotWithShape="1">
            <a:gsLst>
              <a:gs pos="0">
                <a:srgbClr val="F2F5FF"/>
              </a:gs>
              <a:gs pos="100000">
                <a:srgbClr val="FFF7FB"/>
              </a:gs>
            </a:gsLst>
            <a:lin ang="6300000" scaled="1"/>
          </a:gradFill>
          <a:ln w="7620">
            <a:solidFill>
              <a:srgbClr val="E2E7F5"/>
            </a:solidFill>
            <a:prstDash val="solid"/>
          </a:ln>
        </p:spPr>
      </p:sp>
      <p:pic>
        <p:nvPicPr>
          <p:cNvPr id="26" name="s3_svg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250" y="1943100"/>
            <a:ext cx="213360" cy="213360"/>
          </a:xfrm>
          <a:prstGeom prst="rect">
            <a:avLst/>
          </a:prstGeom>
        </p:spPr>
      </p:pic>
      <p:pic>
        <p:nvPicPr>
          <p:cNvPr id="27" name="s3_svg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943100"/>
            <a:ext cx="213360" cy="213360"/>
          </a:xfrm>
          <a:prstGeom prst="rect">
            <a:avLst/>
          </a:prstGeom>
        </p:spPr>
      </p:pic>
      <p:pic>
        <p:nvPicPr>
          <p:cNvPr id="28" name="s3_svg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950" y="1943100"/>
            <a:ext cx="213360" cy="213360"/>
          </a:xfrm>
          <a:prstGeom prst="rect">
            <a:avLst/>
          </a:prstGeom>
        </p:spPr>
      </p:pic>
      <p:pic>
        <p:nvPicPr>
          <p:cNvPr id="29" name="s3_svg_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3300" y="1943100"/>
            <a:ext cx="213360" cy="213360"/>
          </a:xfrm>
          <a:prstGeom prst="rect">
            <a:avLst/>
          </a:prstGeom>
        </p:spPr>
      </p:pic>
      <p:pic>
        <p:nvPicPr>
          <p:cNvPr id="30" name="s3_svg_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963" y="4625340"/>
            <a:ext cx="213360" cy="213360"/>
          </a:xfrm>
          <a:prstGeom prst="rect">
            <a:avLst/>
          </a:prstGeom>
        </p:spPr>
      </p:pic>
      <p:pic>
        <p:nvPicPr>
          <p:cNvPr id="31" name="s3_svg_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729" y="4625340"/>
            <a:ext cx="213360" cy="213360"/>
          </a:xfrm>
          <a:prstGeom prst="rect">
            <a:avLst/>
          </a:prstGeom>
        </p:spPr>
      </p:pic>
      <p:pic>
        <p:nvPicPr>
          <p:cNvPr id="32" name="s3_svg_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494" y="4625340"/>
            <a:ext cx="213360" cy="213360"/>
          </a:xfrm>
          <a:prstGeom prst="rect">
            <a:avLst/>
          </a:prstGeom>
        </p:spPr>
      </p:pic>
      <p:sp>
        <p:nvSpPr>
          <p:cNvPr id="33" name="s3_div_eyebrow_0_text"/>
          <p:cNvSpPr/>
          <p:nvPr/>
        </p:nvSpPr>
        <p:spPr>
          <a:xfrm>
            <a:off x="716280" y="327660"/>
            <a:ext cx="3023830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900" b="1" spc="48" kern="0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· BROWSER-BASED CONVERSION</a:t>
            </a:r>
            <a:endParaRPr lang="en-US" sz="900" dirty="0"/>
          </a:p>
        </p:txBody>
      </p:sp>
      <p:sp>
        <p:nvSpPr>
          <p:cNvPr id="34" name="s3_div_page-num_1_text"/>
          <p:cNvSpPr/>
          <p:nvPr/>
        </p:nvSpPr>
        <p:spPr>
          <a:xfrm>
            <a:off x="11209972" y="388620"/>
            <a:ext cx="562927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9AA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04</a:t>
            </a:r>
            <a:endParaRPr lang="en-US" sz="900" dirty="0"/>
          </a:p>
        </p:txBody>
      </p:sp>
      <p:sp>
        <p:nvSpPr>
          <p:cNvPr id="35" name="s3_h1_slide-title_en-title_2_text"/>
          <p:cNvSpPr/>
          <p:nvPr/>
        </p:nvSpPr>
        <p:spPr>
          <a:xfrm>
            <a:off x="579120" y="784860"/>
            <a:ext cx="10957560" cy="41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2400" b="1" spc="-42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source material to PPTX, layout and objects stay faithful</a:t>
            </a:r>
            <a:endParaRPr lang="en-US" sz="2400" dirty="0"/>
          </a:p>
        </p:txBody>
      </p:sp>
      <p:sp>
        <p:nvSpPr>
          <p:cNvPr id="36" name="s3_p_slide-subtitle_3_text"/>
          <p:cNvSpPr/>
          <p:nvPr/>
        </p:nvSpPr>
        <p:spPr>
          <a:xfrm>
            <a:off x="579120" y="1264920"/>
            <a:ext cx="8574024" cy="246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080" dirty="0">
                <a:solidFill>
                  <a:srgbClr val="657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 designs in HTML first, then reads browser geometry and rebuilds text, shapes, gradients, and icons as PowerPoint objects.</a:t>
            </a:r>
            <a:endParaRPr lang="en-US" sz="1080" dirty="0"/>
          </a:p>
        </p:txBody>
      </p:sp>
      <p:sp>
        <p:nvSpPr>
          <p:cNvPr id="37" name="s3_div_workflow-number_7_text"/>
          <p:cNvSpPr/>
          <p:nvPr/>
        </p:nvSpPr>
        <p:spPr>
          <a:xfrm>
            <a:off x="754380" y="1866900"/>
            <a:ext cx="249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60" dirty="0"/>
          </a:p>
        </p:txBody>
      </p:sp>
      <p:sp>
        <p:nvSpPr>
          <p:cNvPr id="38" name="s3_div_workflow-name_14_text"/>
          <p:cNvSpPr/>
          <p:nvPr/>
        </p:nvSpPr>
        <p:spPr>
          <a:xfrm>
            <a:off x="754380" y="2606040"/>
            <a:ext cx="2495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content</a:t>
            </a:r>
            <a:endParaRPr lang="en-US" sz="1500" dirty="0"/>
          </a:p>
        </p:txBody>
      </p:sp>
      <p:sp>
        <p:nvSpPr>
          <p:cNvPr id="39" name="s3_div_workflow-note_15_text"/>
          <p:cNvSpPr/>
          <p:nvPr/>
        </p:nvSpPr>
        <p:spPr>
          <a:xfrm>
            <a:off x="754380" y="2956560"/>
            <a:ext cx="2452878" cy="59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62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topic, outline, notes, course material, or article summary and define the presentation job.</a:t>
            </a:r>
            <a:endParaRPr lang="en-US" sz="960" dirty="0"/>
          </a:p>
        </p:txBody>
      </p:sp>
      <p:sp>
        <p:nvSpPr>
          <p:cNvPr id="40" name="s3_div_workflow-number_18_text"/>
          <p:cNvSpPr/>
          <p:nvPr/>
        </p:nvSpPr>
        <p:spPr>
          <a:xfrm>
            <a:off x="3554730" y="1866900"/>
            <a:ext cx="249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60" dirty="0"/>
          </a:p>
        </p:txBody>
      </p:sp>
      <p:sp>
        <p:nvSpPr>
          <p:cNvPr id="41" name="s3_div_workflow-name_24_text"/>
          <p:cNvSpPr/>
          <p:nvPr/>
        </p:nvSpPr>
        <p:spPr>
          <a:xfrm>
            <a:off x="3554730" y="2606040"/>
            <a:ext cx="2495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the story</a:t>
            </a:r>
            <a:endParaRPr lang="en-US" sz="1500" dirty="0"/>
          </a:p>
        </p:txBody>
      </p:sp>
      <p:sp>
        <p:nvSpPr>
          <p:cNvPr id="42" name="s3_div_workflow-note_25_text"/>
          <p:cNvSpPr/>
          <p:nvPr/>
        </p:nvSpPr>
        <p:spPr>
          <a:xfrm>
            <a:off x="3554730" y="2956560"/>
            <a:ext cx="2452878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62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source material into slide titles, key claims, examples, steps, and takeaways.</a:t>
            </a:r>
            <a:endParaRPr lang="en-US" sz="960" dirty="0"/>
          </a:p>
        </p:txBody>
      </p:sp>
      <p:sp>
        <p:nvSpPr>
          <p:cNvPr id="43" name="s3_div_workflow-number_28_text"/>
          <p:cNvSpPr/>
          <p:nvPr/>
        </p:nvSpPr>
        <p:spPr>
          <a:xfrm>
            <a:off x="6355080" y="1866900"/>
            <a:ext cx="249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60" dirty="0"/>
          </a:p>
        </p:txBody>
      </p:sp>
      <p:sp>
        <p:nvSpPr>
          <p:cNvPr id="44" name="s3_div_workflow-name_34_text"/>
          <p:cNvSpPr/>
          <p:nvPr/>
        </p:nvSpPr>
        <p:spPr>
          <a:xfrm>
            <a:off x="6355080" y="2606040"/>
            <a:ext cx="2495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in browser</a:t>
            </a:r>
            <a:endParaRPr lang="en-US" sz="1500" dirty="0"/>
          </a:p>
        </p:txBody>
      </p:sp>
      <p:sp>
        <p:nvSpPr>
          <p:cNvPr id="45" name="s3_div_workflow-note_35_text"/>
          <p:cNvSpPr/>
          <p:nvPr/>
        </p:nvSpPr>
        <p:spPr>
          <a:xfrm>
            <a:off x="6355080" y="2956560"/>
            <a:ext cx="2452878" cy="59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62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HTML and CSS to set size, alignment, whitespace, color, and visual hierarchy.</a:t>
            </a:r>
            <a:endParaRPr lang="en-US" sz="960" dirty="0"/>
          </a:p>
        </p:txBody>
      </p:sp>
      <p:sp>
        <p:nvSpPr>
          <p:cNvPr id="46" name="s3_div_workflow-number_38_text"/>
          <p:cNvSpPr/>
          <p:nvPr/>
        </p:nvSpPr>
        <p:spPr>
          <a:xfrm>
            <a:off x="9155430" y="1866900"/>
            <a:ext cx="249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60" dirty="0"/>
          </a:p>
        </p:txBody>
      </p:sp>
      <p:sp>
        <p:nvSpPr>
          <p:cNvPr id="47" name="s3_div_workflow-name_44_text"/>
          <p:cNvSpPr/>
          <p:nvPr/>
        </p:nvSpPr>
        <p:spPr>
          <a:xfrm>
            <a:off x="9155430" y="2606040"/>
            <a:ext cx="2495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PPTX</a:t>
            </a:r>
            <a:endParaRPr lang="en-US" sz="1500" dirty="0"/>
          </a:p>
        </p:txBody>
      </p:sp>
      <p:sp>
        <p:nvSpPr>
          <p:cNvPr id="48" name="s3_div_workflow-note_45_text"/>
          <p:cNvSpPr/>
          <p:nvPr/>
        </p:nvSpPr>
        <p:spPr>
          <a:xfrm>
            <a:off x="9155430" y="2956560"/>
            <a:ext cx="2452878" cy="59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62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DOM geometry and computed styles to create editable PowerPoint objects.</a:t>
            </a:r>
            <a:endParaRPr lang="en-US" sz="960" dirty="0"/>
          </a:p>
        </p:txBody>
      </p:sp>
      <p:sp>
        <p:nvSpPr>
          <p:cNvPr id="49" name="s3_div_proof-kicker_48_text"/>
          <p:cNvSpPr/>
          <p:nvPr/>
        </p:nvSpPr>
        <p:spPr>
          <a:xfrm>
            <a:off x="784860" y="4572000"/>
            <a:ext cx="2670667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9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</a:t>
            </a:r>
            <a:endParaRPr lang="en-US" sz="780" dirty="0"/>
          </a:p>
        </p:txBody>
      </p:sp>
      <p:sp>
        <p:nvSpPr>
          <p:cNvPr id="50" name="s3_div_proof-lead-title_49_text"/>
          <p:cNvSpPr/>
          <p:nvPr/>
        </p:nvSpPr>
        <p:spPr>
          <a:xfrm>
            <a:off x="784860" y="4785360"/>
            <a:ext cx="274534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geometry</a:t>
            </a:r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layout truth</a:t>
            </a:r>
            <a:endParaRPr lang="en-US" sz="1500" dirty="0"/>
          </a:p>
        </p:txBody>
      </p:sp>
      <p:sp>
        <p:nvSpPr>
          <p:cNvPr id="51" name="s3_div_proof-lead-note_50_text"/>
          <p:cNvSpPr/>
          <p:nvPr/>
        </p:nvSpPr>
        <p:spPr>
          <a:xfrm>
            <a:off x="784860" y="5360670"/>
            <a:ext cx="2681335" cy="50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FFFFFF">
                    <a:alpha val="7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page correct in the browser, then map the same positions, sizes, and styles to a 16:9 PowerPoint canvas.</a:t>
            </a:r>
            <a:endParaRPr lang="en-US" sz="840" dirty="0"/>
          </a:p>
        </p:txBody>
      </p:sp>
      <p:sp>
        <p:nvSpPr>
          <p:cNvPr id="52" name="s3_div_proof-title_56_text"/>
          <p:cNvSpPr/>
          <p:nvPr/>
        </p:nvSpPr>
        <p:spPr>
          <a:xfrm>
            <a:off x="3842623" y="5013960"/>
            <a:ext cx="2396538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text objects</a:t>
            </a:r>
            <a:endParaRPr lang="en-US" sz="1140" dirty="0"/>
          </a:p>
        </p:txBody>
      </p:sp>
      <p:sp>
        <p:nvSpPr>
          <p:cNvPr id="53" name="s3_div_proof-note_57_text"/>
          <p:cNvSpPr/>
          <p:nvPr/>
        </p:nvSpPr>
        <p:spPr>
          <a:xfrm>
            <a:off x="3842623" y="5250180"/>
            <a:ext cx="2337864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697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font size, weight, color, wrapping, and alignment.</a:t>
            </a:r>
            <a:endParaRPr lang="en-US" sz="810" dirty="0"/>
          </a:p>
        </p:txBody>
      </p:sp>
      <p:sp>
        <p:nvSpPr>
          <p:cNvPr id="54" name="s3_div_proof-title_63_text"/>
          <p:cNvSpPr/>
          <p:nvPr/>
        </p:nvSpPr>
        <p:spPr>
          <a:xfrm>
            <a:off x="6539389" y="5013960"/>
            <a:ext cx="2396538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shapes and gradients</a:t>
            </a:r>
            <a:endParaRPr lang="en-US" sz="1140" dirty="0"/>
          </a:p>
        </p:txBody>
      </p:sp>
      <p:sp>
        <p:nvSpPr>
          <p:cNvPr id="55" name="s3_div_proof-note_64_text"/>
          <p:cNvSpPr/>
          <p:nvPr/>
        </p:nvSpPr>
        <p:spPr>
          <a:xfrm>
            <a:off x="6539389" y="5250180"/>
            <a:ext cx="2337864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697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rounded cards, borders, shadows, and linear gradients adjustable.</a:t>
            </a:r>
            <a:endParaRPr lang="en-US" sz="810" dirty="0"/>
          </a:p>
        </p:txBody>
      </p:sp>
      <p:sp>
        <p:nvSpPr>
          <p:cNvPr id="56" name="s3_div_proof-title_69_text"/>
          <p:cNvSpPr/>
          <p:nvPr/>
        </p:nvSpPr>
        <p:spPr>
          <a:xfrm>
            <a:off x="9236154" y="5013960"/>
            <a:ext cx="2396419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icon assets</a:t>
            </a:r>
            <a:endParaRPr lang="en-US" sz="1140" dirty="0"/>
          </a:p>
        </p:txBody>
      </p:sp>
      <p:sp>
        <p:nvSpPr>
          <p:cNvPr id="57" name="s3_div_proof-note_70_text"/>
          <p:cNvSpPr/>
          <p:nvPr/>
        </p:nvSpPr>
        <p:spPr>
          <a:xfrm>
            <a:off x="9236154" y="5250180"/>
            <a:ext cx="2337745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697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inline SVG sources and add compatible image objects to the PPTX.</a:t>
            </a:r>
            <a:endParaRPr lang="en-US" sz="810" dirty="0"/>
          </a:p>
        </p:txBody>
      </p:sp>
      <p:sp>
        <p:nvSpPr>
          <p:cNvPr id="58" name="s3_span_footer-brand_72_text"/>
          <p:cNvSpPr/>
          <p:nvPr/>
        </p:nvSpPr>
        <p:spPr>
          <a:xfrm>
            <a:off x="739140" y="6435090"/>
            <a:ext cx="794956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" kern="0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780" dirty="0"/>
          </a:p>
        </p:txBody>
      </p:sp>
      <p:sp>
        <p:nvSpPr>
          <p:cNvPr id="59" name="s3_span_73_text"/>
          <p:cNvSpPr/>
          <p:nvPr/>
        </p:nvSpPr>
        <p:spPr>
          <a:xfrm>
            <a:off x="5029676" y="6435090"/>
            <a:ext cx="262459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→ HTML → DOM geometry → Editable PPTX</a:t>
            </a:r>
            <a:endParaRPr lang="en-US" sz="780" dirty="0"/>
          </a:p>
        </p:txBody>
      </p:sp>
      <p:sp>
        <p:nvSpPr>
          <p:cNvPr id="60" name="s3_span_74_text"/>
          <p:cNvSpPr/>
          <p:nvPr/>
        </p:nvSpPr>
        <p:spPr>
          <a:xfrm>
            <a:off x="11149846" y="6435090"/>
            <a:ext cx="441698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04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4_radial_background_1"/>
          <p:cNvSpPr/>
          <p:nvPr/>
        </p:nvSpPr>
        <p:spPr>
          <a:xfrm>
            <a:off x="-3429000" y="-2209800"/>
            <a:ext cx="6858000" cy="4419600"/>
          </a:xfrm>
          <a:prstGeom prst="ellipse">
            <a:avLst/>
          </a:prstGeom>
          <a:solidFill>
            <a:srgbClr val="DCE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4_radial_background_2"/>
          <p:cNvSpPr/>
          <p:nvPr/>
        </p:nvSpPr>
        <p:spPr>
          <a:xfrm>
            <a:off x="9067800" y="4876800"/>
            <a:ext cx="6248400" cy="3962400"/>
          </a:xfrm>
          <a:prstGeom prst="ellipse">
            <a:avLst/>
          </a:prstGeom>
          <a:solidFill>
            <a:srgbClr val="F7E2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4_div_eyebrow_0_shape"/>
          <p:cNvSpPr/>
          <p:nvPr/>
        </p:nvSpPr>
        <p:spPr>
          <a:xfrm>
            <a:off x="579120" y="327660"/>
            <a:ext cx="2034421" cy="274320"/>
          </a:xfrm>
          <a:prstGeom prst="roundRect">
            <a:avLst>
              <a:gd name="adj" fmla="val 50000"/>
            </a:avLst>
          </a:prstGeom>
          <a:solidFill>
            <a:srgbClr val="F7F9FF">
              <a:alpha val="90000"/>
            </a:srgbClr>
          </a:solidFill>
          <a:ln w="7620">
            <a:solidFill>
              <a:srgbClr val="D9E0FB"/>
            </a:solidFill>
            <a:prstDash val="solid"/>
          </a:ln>
        </p:spPr>
      </p:sp>
      <p:sp>
        <p:nvSpPr>
          <p:cNvPr id="6" name="s4_div_scenario-card_5_shape"/>
          <p:cNvSpPr/>
          <p:nvPr/>
        </p:nvSpPr>
        <p:spPr>
          <a:xfrm>
            <a:off x="579120" y="1722120"/>
            <a:ext cx="3543300" cy="1638300"/>
          </a:xfrm>
          <a:prstGeom prst="roundRect">
            <a:avLst>
              <a:gd name="adj" fmla="val 8837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49352" dist="91440" dir="5400000">
              <a:srgbClr val="263A68">
                <a:alpha val="7000"/>
              </a:srgbClr>
            </a:outerShdw>
          </a:effectLst>
        </p:spPr>
      </p:sp>
      <p:sp>
        <p:nvSpPr>
          <p:cNvPr id="7" name="s4_div_icon-box_scenario-icon_blue-gradient_7_shape"/>
          <p:cNvSpPr/>
          <p:nvPr/>
        </p:nvSpPr>
        <p:spPr>
          <a:xfrm>
            <a:off x="762000" y="1897380"/>
            <a:ext cx="335280" cy="33528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4_div_scenario-card_13_shape"/>
          <p:cNvSpPr/>
          <p:nvPr/>
        </p:nvSpPr>
        <p:spPr>
          <a:xfrm>
            <a:off x="4274820" y="1722120"/>
            <a:ext cx="3543300" cy="1638300"/>
          </a:xfrm>
          <a:prstGeom prst="roundRect">
            <a:avLst>
              <a:gd name="adj" fmla="val 8837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49352" dist="91440" dir="5400000">
              <a:srgbClr val="263A68">
                <a:alpha val="7000"/>
              </a:srgbClr>
            </a:outerShdw>
          </a:effectLst>
        </p:spPr>
      </p:sp>
      <p:sp>
        <p:nvSpPr>
          <p:cNvPr id="9" name="s4_div_icon-box_scenario-icon_teal-gradient_15_shape"/>
          <p:cNvSpPr/>
          <p:nvPr/>
        </p:nvSpPr>
        <p:spPr>
          <a:xfrm>
            <a:off x="4457700" y="1897380"/>
            <a:ext cx="335280" cy="33528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4_div_scenario-card_21_shape"/>
          <p:cNvSpPr/>
          <p:nvPr/>
        </p:nvSpPr>
        <p:spPr>
          <a:xfrm>
            <a:off x="579120" y="3512820"/>
            <a:ext cx="3543300" cy="1638300"/>
          </a:xfrm>
          <a:prstGeom prst="roundRect">
            <a:avLst>
              <a:gd name="adj" fmla="val 8837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49352" dist="91440" dir="5400000">
              <a:srgbClr val="263A68">
                <a:alpha val="7000"/>
              </a:srgbClr>
            </a:outerShdw>
          </a:effectLst>
        </p:spPr>
      </p:sp>
      <p:sp>
        <p:nvSpPr>
          <p:cNvPr id="11" name="s4_div_icon-box_scenario-icon_purple-gradient_23_shape"/>
          <p:cNvSpPr/>
          <p:nvPr/>
        </p:nvSpPr>
        <p:spPr>
          <a:xfrm>
            <a:off x="762000" y="3688080"/>
            <a:ext cx="335280" cy="33528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4_div_scenario-card_29_shape"/>
          <p:cNvSpPr/>
          <p:nvPr/>
        </p:nvSpPr>
        <p:spPr>
          <a:xfrm>
            <a:off x="4274820" y="3512820"/>
            <a:ext cx="3543300" cy="1638300"/>
          </a:xfrm>
          <a:prstGeom prst="roundRect">
            <a:avLst>
              <a:gd name="adj" fmla="val 8837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49352" dist="91440" dir="5400000">
              <a:srgbClr val="263A68">
                <a:alpha val="7000"/>
              </a:srgbClr>
            </a:outerShdw>
          </a:effectLst>
        </p:spPr>
      </p:sp>
      <p:sp>
        <p:nvSpPr>
          <p:cNvPr id="13" name="s4_div_icon-box_scenario-icon_orange-gradient_31_shape"/>
          <p:cNvSpPr/>
          <p:nvPr/>
        </p:nvSpPr>
        <p:spPr>
          <a:xfrm>
            <a:off x="4457700" y="3688080"/>
            <a:ext cx="335280" cy="33528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FF8737"/>
              </a:gs>
              <a:gs pos="100000">
                <a:srgbClr val="F15B0E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4_div_delivery-panel_37_shape"/>
          <p:cNvSpPr/>
          <p:nvPr/>
        </p:nvSpPr>
        <p:spPr>
          <a:xfrm>
            <a:off x="8031480" y="1722120"/>
            <a:ext cx="3581400" cy="3429000"/>
          </a:xfrm>
          <a:prstGeom prst="roundRect">
            <a:avLst>
              <a:gd name="adj" fmla="val 4889"/>
            </a:avLst>
          </a:prstGeom>
          <a:gradFill rotWithShape="1">
            <a:gsLst>
              <a:gs pos="0">
                <a:srgbClr val="25365E"/>
              </a:gs>
              <a:gs pos="100000">
                <a:srgbClr val="5331AD"/>
              </a:gs>
            </a:gsLst>
            <a:lin ang="8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34696" dist="152400" dir="5400000">
              <a:srgbClr val="2A2764">
                <a:alpha val="21000"/>
              </a:srgbClr>
            </a:outerShdw>
          </a:effectLst>
        </p:spPr>
      </p:sp>
      <p:sp>
        <p:nvSpPr>
          <p:cNvPr id="15" name="s4_span_check-mark_43_shape"/>
          <p:cNvSpPr/>
          <p:nvPr/>
        </p:nvSpPr>
        <p:spPr>
          <a:xfrm>
            <a:off x="8244840" y="3644265"/>
            <a:ext cx="213360" cy="213360"/>
          </a:xfrm>
          <a:prstGeom prst="roundRect">
            <a:avLst>
              <a:gd name="adj" fmla="val 3214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4_span_check-mark_48_shape"/>
          <p:cNvSpPr/>
          <p:nvPr/>
        </p:nvSpPr>
        <p:spPr>
          <a:xfrm>
            <a:off x="8244840" y="3971925"/>
            <a:ext cx="213360" cy="213360"/>
          </a:xfrm>
          <a:prstGeom prst="roundRect">
            <a:avLst>
              <a:gd name="adj" fmla="val 3214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4_span_check-mark_53_shape"/>
          <p:cNvSpPr/>
          <p:nvPr/>
        </p:nvSpPr>
        <p:spPr>
          <a:xfrm>
            <a:off x="8244840" y="4299585"/>
            <a:ext cx="213360" cy="213360"/>
          </a:xfrm>
          <a:prstGeom prst="roundRect">
            <a:avLst>
              <a:gd name="adj" fmla="val 3214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4_span_check-mark_58_shape"/>
          <p:cNvSpPr/>
          <p:nvPr/>
        </p:nvSpPr>
        <p:spPr>
          <a:xfrm>
            <a:off x="8244840" y="4627245"/>
            <a:ext cx="213360" cy="213360"/>
          </a:xfrm>
          <a:prstGeom prst="roundRect">
            <a:avLst>
              <a:gd name="adj" fmla="val 3214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4_span_63_shape"/>
          <p:cNvSpPr/>
          <p:nvPr/>
        </p:nvSpPr>
        <p:spPr>
          <a:xfrm>
            <a:off x="8244840" y="4876800"/>
            <a:ext cx="731520" cy="68580"/>
          </a:xfrm>
          <a:prstGeom prst="roundRect">
            <a:avLst>
              <a:gd name="adj" fmla="val 55556"/>
            </a:avLst>
          </a:prstGeom>
          <a:solidFill>
            <a:srgbClr val="3F8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4_span_64_shape"/>
          <p:cNvSpPr/>
          <p:nvPr/>
        </p:nvSpPr>
        <p:spPr>
          <a:xfrm>
            <a:off x="9052560" y="4876800"/>
            <a:ext cx="731520" cy="68580"/>
          </a:xfrm>
          <a:prstGeom prst="roundRect">
            <a:avLst>
              <a:gd name="adj" fmla="val 55556"/>
            </a:avLst>
          </a:prstGeom>
          <a:solidFill>
            <a:srgbClr val="11B7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4_span_65_shape"/>
          <p:cNvSpPr/>
          <p:nvPr/>
        </p:nvSpPr>
        <p:spPr>
          <a:xfrm>
            <a:off x="9860280" y="4876800"/>
            <a:ext cx="731520" cy="68580"/>
          </a:xfrm>
          <a:prstGeom prst="roundRect">
            <a:avLst>
              <a:gd name="adj" fmla="val 55556"/>
            </a:avLst>
          </a:prstGeom>
          <a:solidFill>
            <a:srgbClr val="8B5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4_span_66_shape"/>
          <p:cNvSpPr/>
          <p:nvPr/>
        </p:nvSpPr>
        <p:spPr>
          <a:xfrm>
            <a:off x="10668000" y="4876800"/>
            <a:ext cx="731520" cy="68580"/>
          </a:xfrm>
          <a:prstGeom prst="roundRect">
            <a:avLst>
              <a:gd name="adj" fmla="val 55556"/>
            </a:avLst>
          </a:prstGeom>
          <a:solidFill>
            <a:srgbClr val="FF87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4_div_scenario-summary_67_shape"/>
          <p:cNvSpPr/>
          <p:nvPr/>
        </p:nvSpPr>
        <p:spPr>
          <a:xfrm>
            <a:off x="579120" y="5257800"/>
            <a:ext cx="11033760" cy="792480"/>
          </a:xfrm>
          <a:prstGeom prst="roundRect">
            <a:avLst>
              <a:gd name="adj" fmla="val 18269"/>
            </a:avLst>
          </a:prstGeom>
          <a:gradFill rotWithShape="1">
            <a:gsLst>
              <a:gs pos="0">
                <a:srgbClr val="F2F5FF"/>
              </a:gs>
              <a:gs pos="100000">
                <a:srgbClr val="FFF6FB"/>
              </a:gs>
            </a:gsLst>
            <a:lin ang="6300000" scaled="1"/>
          </a:gradFill>
          <a:ln w="7620">
            <a:solidFill>
              <a:srgbClr val="E1E7F4"/>
            </a:solidFill>
            <a:prstDash val="solid"/>
          </a:ln>
        </p:spPr>
      </p:sp>
      <p:sp>
        <p:nvSpPr>
          <p:cNvPr id="24" name="s4_div_footer-bar_71_shape"/>
          <p:cNvSpPr/>
          <p:nvPr/>
        </p:nvSpPr>
        <p:spPr>
          <a:xfrm>
            <a:off x="579120" y="6309360"/>
            <a:ext cx="11033760" cy="365760"/>
          </a:xfrm>
          <a:prstGeom prst="roundRect">
            <a:avLst>
              <a:gd name="adj" fmla="val 31250"/>
            </a:avLst>
          </a:prstGeom>
          <a:gradFill rotWithShape="1">
            <a:gsLst>
              <a:gs pos="0">
                <a:srgbClr val="F2F5FF"/>
              </a:gs>
              <a:gs pos="100000">
                <a:srgbClr val="FFF7FB"/>
              </a:gs>
            </a:gsLst>
            <a:lin ang="6300000" scaled="1"/>
          </a:gradFill>
          <a:ln w="7620">
            <a:solidFill>
              <a:srgbClr val="E2E7F5"/>
            </a:solidFill>
            <a:prstDash val="solid"/>
          </a:ln>
        </p:spPr>
      </p:sp>
      <p:pic>
        <p:nvPicPr>
          <p:cNvPr id="25" name="s4_svg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58340"/>
            <a:ext cx="213360" cy="213360"/>
          </a:xfrm>
          <a:prstGeom prst="rect">
            <a:avLst/>
          </a:prstGeom>
        </p:spPr>
      </p:pic>
      <p:pic>
        <p:nvPicPr>
          <p:cNvPr id="26" name="s4_svg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660" y="1958340"/>
            <a:ext cx="213360" cy="213360"/>
          </a:xfrm>
          <a:prstGeom prst="rect">
            <a:avLst/>
          </a:prstGeom>
        </p:spPr>
      </p:pic>
      <p:pic>
        <p:nvPicPr>
          <p:cNvPr id="27" name="s4_svg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213360" cy="213360"/>
          </a:xfrm>
          <a:prstGeom prst="rect">
            <a:avLst/>
          </a:prstGeom>
        </p:spPr>
      </p:pic>
      <p:pic>
        <p:nvPicPr>
          <p:cNvPr id="28" name="s4_svg_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660" y="3749040"/>
            <a:ext cx="213360" cy="213360"/>
          </a:xfrm>
          <a:prstGeom prst="rect">
            <a:avLst/>
          </a:prstGeom>
        </p:spPr>
      </p:pic>
      <p:pic>
        <p:nvPicPr>
          <p:cNvPr id="29" name="s4_svg_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689985"/>
            <a:ext cx="121920" cy="121920"/>
          </a:xfrm>
          <a:prstGeom prst="rect">
            <a:avLst/>
          </a:prstGeom>
        </p:spPr>
      </p:pic>
      <p:pic>
        <p:nvPicPr>
          <p:cNvPr id="30" name="s4_svg_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560" y="4017645"/>
            <a:ext cx="121920" cy="121920"/>
          </a:xfrm>
          <a:prstGeom prst="rect">
            <a:avLst/>
          </a:prstGeom>
        </p:spPr>
      </p:pic>
      <p:pic>
        <p:nvPicPr>
          <p:cNvPr id="31" name="s4_svg_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0560" y="4345305"/>
            <a:ext cx="121920" cy="121920"/>
          </a:xfrm>
          <a:prstGeom prst="rect">
            <a:avLst/>
          </a:prstGeom>
        </p:spPr>
      </p:pic>
      <p:pic>
        <p:nvPicPr>
          <p:cNvPr id="32" name="s4_svg_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560" y="4672965"/>
            <a:ext cx="121920" cy="121920"/>
          </a:xfrm>
          <a:prstGeom prst="rect">
            <a:avLst/>
          </a:prstGeom>
        </p:spPr>
      </p:pic>
      <p:sp>
        <p:nvSpPr>
          <p:cNvPr id="33" name="s4_div_eyebrow_0_text"/>
          <p:cNvSpPr/>
          <p:nvPr/>
        </p:nvSpPr>
        <p:spPr>
          <a:xfrm>
            <a:off x="716280" y="327660"/>
            <a:ext cx="1920121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900" b="1" spc="48" kern="0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· TEMPLATE SYSTEM</a:t>
            </a:r>
            <a:endParaRPr lang="en-US" sz="900" dirty="0"/>
          </a:p>
        </p:txBody>
      </p:sp>
      <p:sp>
        <p:nvSpPr>
          <p:cNvPr id="34" name="s4_div_page-num_1_text"/>
          <p:cNvSpPr/>
          <p:nvPr/>
        </p:nvSpPr>
        <p:spPr>
          <a:xfrm>
            <a:off x="11209972" y="388620"/>
            <a:ext cx="562927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9AA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04</a:t>
            </a:r>
            <a:endParaRPr lang="en-US" sz="900" dirty="0"/>
          </a:p>
        </p:txBody>
      </p:sp>
      <p:sp>
        <p:nvSpPr>
          <p:cNvPr id="35" name="s4_h1_slide-title_en-title_2_text"/>
          <p:cNvSpPr/>
          <p:nvPr/>
        </p:nvSpPr>
        <p:spPr>
          <a:xfrm>
            <a:off x="579120" y="784860"/>
            <a:ext cx="10957560" cy="41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2400" b="1" spc="-42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template system supports many knowledge scenarios</a:t>
            </a:r>
            <a:endParaRPr lang="en-US" sz="2400" dirty="0"/>
          </a:p>
        </p:txBody>
      </p:sp>
      <p:sp>
        <p:nvSpPr>
          <p:cNvPr id="36" name="s4_p_slide-subtitle_3_text"/>
          <p:cNvSpPr/>
          <p:nvPr/>
        </p:nvSpPr>
        <p:spPr>
          <a:xfrm>
            <a:off x="579120" y="1264920"/>
            <a:ext cx="8574024" cy="246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080" dirty="0">
                <a:solidFill>
                  <a:srgbClr val="657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visual system stable, replace the content and assets, and generate presentations for different audiences.</a:t>
            </a:r>
            <a:endParaRPr lang="en-US" sz="1080" dirty="0"/>
          </a:p>
        </p:txBody>
      </p:sp>
      <p:sp>
        <p:nvSpPr>
          <p:cNvPr id="37" name="s4_div_scenario-title_11_text"/>
          <p:cNvSpPr/>
          <p:nvPr/>
        </p:nvSpPr>
        <p:spPr>
          <a:xfrm>
            <a:off x="1203960" y="1965960"/>
            <a:ext cx="22073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and classrooms</a:t>
            </a:r>
            <a:endParaRPr lang="en-US" sz="1320" dirty="0"/>
          </a:p>
        </p:txBody>
      </p:sp>
      <p:sp>
        <p:nvSpPr>
          <p:cNvPr id="38" name="s4_div_scenario-note_12_text"/>
          <p:cNvSpPr/>
          <p:nvPr/>
        </p:nvSpPr>
        <p:spPr>
          <a:xfrm>
            <a:off x="762000" y="2369820"/>
            <a:ext cx="333756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07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course topics, chapter outlines, and teaching material into structured, presentation-ready lessons.</a:t>
            </a:r>
            <a:endParaRPr lang="en-US" sz="900" dirty="0"/>
          </a:p>
        </p:txBody>
      </p:sp>
      <p:sp>
        <p:nvSpPr>
          <p:cNvPr id="39" name="s4_div_scenario-title_19_text"/>
          <p:cNvSpPr/>
          <p:nvPr/>
        </p:nvSpPr>
        <p:spPr>
          <a:xfrm>
            <a:off x="4899660" y="1965960"/>
            <a:ext cx="16756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training</a:t>
            </a:r>
            <a:endParaRPr lang="en-US" sz="1320" dirty="0"/>
          </a:p>
        </p:txBody>
      </p:sp>
      <p:sp>
        <p:nvSpPr>
          <p:cNvPr id="40" name="s4_div_scenario-note_20_text"/>
          <p:cNvSpPr/>
          <p:nvPr/>
        </p:nvSpPr>
        <p:spPr>
          <a:xfrm>
            <a:off x="4457700" y="2369820"/>
            <a:ext cx="333756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07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processes, methodologies, product knowledge, and internal standards into consistent training decks.</a:t>
            </a:r>
            <a:endParaRPr lang="en-US" sz="900" dirty="0"/>
          </a:p>
        </p:txBody>
      </p:sp>
      <p:sp>
        <p:nvSpPr>
          <p:cNvPr id="41" name="s4_div_scenario-title_27_text"/>
          <p:cNvSpPr/>
          <p:nvPr/>
        </p:nvSpPr>
        <p:spPr>
          <a:xfrm>
            <a:off x="1203960" y="3756660"/>
            <a:ext cx="197465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reviews</a:t>
            </a:r>
            <a:endParaRPr lang="en-US" sz="1320" dirty="0"/>
          </a:p>
        </p:txBody>
      </p:sp>
      <p:sp>
        <p:nvSpPr>
          <p:cNvPr id="42" name="s4_div_scenario-note_28_text"/>
          <p:cNvSpPr/>
          <p:nvPr/>
        </p:nvSpPr>
        <p:spPr>
          <a:xfrm>
            <a:off x="762000" y="4160520"/>
            <a:ext cx="333756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07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literature notes, project reviews, study summaries, and findings into shareable presentations.</a:t>
            </a:r>
            <a:endParaRPr lang="en-US" sz="900" dirty="0"/>
          </a:p>
        </p:txBody>
      </p:sp>
      <p:sp>
        <p:nvSpPr>
          <p:cNvPr id="43" name="s4_div_scenario-title_35_text"/>
          <p:cNvSpPr/>
          <p:nvPr/>
        </p:nvSpPr>
        <p:spPr>
          <a:xfrm>
            <a:off x="4899660" y="3756660"/>
            <a:ext cx="287750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and business knowledge</a:t>
            </a:r>
            <a:endParaRPr lang="en-US" sz="1320" dirty="0"/>
          </a:p>
        </p:txBody>
      </p:sp>
      <p:sp>
        <p:nvSpPr>
          <p:cNvPr id="44" name="s4_div_scenario-note_36_text"/>
          <p:cNvSpPr/>
          <p:nvPr/>
        </p:nvSpPr>
        <p:spPr>
          <a:xfrm>
            <a:off x="4457700" y="4160520"/>
            <a:ext cx="333756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07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complex features, workflows, and scenarios in pages designed for sales, operations, or customers.</a:t>
            </a:r>
            <a:endParaRPr lang="en-US" sz="900" dirty="0"/>
          </a:p>
        </p:txBody>
      </p:sp>
      <p:sp>
        <p:nvSpPr>
          <p:cNvPr id="45" name="s4_div_delivery-panel-kicker_38_text"/>
          <p:cNvSpPr/>
          <p:nvPr/>
        </p:nvSpPr>
        <p:spPr>
          <a:xfrm>
            <a:off x="8244840" y="1935480"/>
            <a:ext cx="3293364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B7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STANDARD</a:t>
            </a:r>
            <a:endParaRPr lang="en-US" sz="780" dirty="0"/>
          </a:p>
        </p:txBody>
      </p:sp>
      <p:sp>
        <p:nvSpPr>
          <p:cNvPr id="46" name="s4_div_delivery-panel-title_39_text"/>
          <p:cNvSpPr/>
          <p:nvPr/>
        </p:nvSpPr>
        <p:spPr>
          <a:xfrm>
            <a:off x="8244840" y="2156460"/>
            <a:ext cx="336804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more than pictures</a:t>
            </a:r>
            <a:pPr algn="l" indent="0" marL="0">
              <a:lnSpc>
                <a:spcPts val="2175"/>
              </a:lnSpc>
              <a:buNone/>
            </a:pPr>
            <a:r>
              <a:rPr lang="en-US" sz="1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2175"/>
              </a:lnSpc>
              <a:buNone/>
            </a:pPr>
            <a:r>
              <a:rPr lang="en-US" sz="1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file that keeps working</a:t>
            </a:r>
            <a:endParaRPr lang="en-US" sz="1740" dirty="0"/>
          </a:p>
        </p:txBody>
      </p:sp>
      <p:sp>
        <p:nvSpPr>
          <p:cNvPr id="47" name="s4_div_delivery-panel-note_40_text"/>
          <p:cNvSpPr/>
          <p:nvPr/>
        </p:nvSpPr>
        <p:spPr>
          <a:xfrm>
            <a:off x="8244840" y="3099435"/>
            <a:ext cx="331470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>
                    <a:alpha val="7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visual quality while leaving room to rewrite, recolor, extend, and adapt the deck to a brand.</a:t>
            </a:r>
            <a:endParaRPr lang="en-US" sz="900" dirty="0"/>
          </a:p>
        </p:txBody>
      </p:sp>
      <p:sp>
        <p:nvSpPr>
          <p:cNvPr id="48" name="s4_div_check-text_46_text"/>
          <p:cNvSpPr/>
          <p:nvPr/>
        </p:nvSpPr>
        <p:spPr>
          <a:xfrm>
            <a:off x="8549640" y="3668673"/>
            <a:ext cx="3020568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text and emphasized content directly</a:t>
            </a:r>
            <a:endParaRPr lang="en-US" sz="960" dirty="0"/>
          </a:p>
        </p:txBody>
      </p:sp>
      <p:sp>
        <p:nvSpPr>
          <p:cNvPr id="49" name="s4_div_check-text_51_text"/>
          <p:cNvSpPr/>
          <p:nvPr/>
        </p:nvSpPr>
        <p:spPr>
          <a:xfrm>
            <a:off x="8549640" y="3996333"/>
            <a:ext cx="3020568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cards, color blocks, and gradients native</a:t>
            </a:r>
            <a:endParaRPr lang="en-US" sz="960" dirty="0"/>
          </a:p>
        </p:txBody>
      </p:sp>
      <p:sp>
        <p:nvSpPr>
          <p:cNvPr id="50" name="s4_div_check-text_56_text"/>
          <p:cNvSpPr/>
          <p:nvPr/>
        </p:nvSpPr>
        <p:spPr>
          <a:xfrm>
            <a:off x="8549640" y="4323993"/>
            <a:ext cx="3020568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icons and visual assets independently</a:t>
            </a:r>
            <a:endParaRPr lang="en-US" sz="960" dirty="0"/>
          </a:p>
        </p:txBody>
      </p:sp>
      <p:sp>
        <p:nvSpPr>
          <p:cNvPr id="51" name="s4_div_check-text_61_text"/>
          <p:cNvSpPr/>
          <p:nvPr/>
        </p:nvSpPr>
        <p:spPr>
          <a:xfrm>
            <a:off x="8549640" y="4651653"/>
            <a:ext cx="3020568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the HTML source for fast revisions</a:t>
            </a:r>
            <a:endParaRPr lang="en-US" sz="960" dirty="0"/>
          </a:p>
        </p:txBody>
      </p:sp>
      <p:sp>
        <p:nvSpPr>
          <p:cNvPr id="52" name="s4_div_summary-brand_68_text"/>
          <p:cNvSpPr/>
          <p:nvPr/>
        </p:nvSpPr>
        <p:spPr>
          <a:xfrm>
            <a:off x="586740" y="5543550"/>
            <a:ext cx="2118360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1500" dirty="0"/>
          </a:p>
        </p:txBody>
      </p:sp>
      <p:sp>
        <p:nvSpPr>
          <p:cNvPr id="53" name="s4_div_summary-copy_69_text"/>
          <p:cNvSpPr/>
          <p:nvPr/>
        </p:nvSpPr>
        <p:spPr>
          <a:xfrm>
            <a:off x="2705100" y="5478066"/>
            <a:ext cx="674065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840" dirty="0">
                <a:solidFill>
                  <a:srgbClr val="536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content structure to visual expression and editable PPTX delivery, LearnDeck turns a high-quality deck from a one-off artifact into a reusable knowledge asset.</a:t>
            </a:r>
            <a:endParaRPr lang="en-US" sz="840" dirty="0"/>
          </a:p>
        </p:txBody>
      </p:sp>
      <p:sp>
        <p:nvSpPr>
          <p:cNvPr id="54" name="s4_div_summary-tag_70_text"/>
          <p:cNvSpPr/>
          <p:nvPr/>
        </p:nvSpPr>
        <p:spPr>
          <a:xfrm>
            <a:off x="9509760" y="5585460"/>
            <a:ext cx="20833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236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· POLISHED · EDITABLE</a:t>
            </a:r>
            <a:endParaRPr lang="en-US" sz="960" dirty="0"/>
          </a:p>
        </p:txBody>
      </p:sp>
      <p:sp>
        <p:nvSpPr>
          <p:cNvPr id="55" name="s4_span_footer-brand_72_text"/>
          <p:cNvSpPr/>
          <p:nvPr/>
        </p:nvSpPr>
        <p:spPr>
          <a:xfrm>
            <a:off x="739140" y="6435090"/>
            <a:ext cx="794956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" kern="0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780" dirty="0"/>
          </a:p>
        </p:txBody>
      </p:sp>
      <p:sp>
        <p:nvSpPr>
          <p:cNvPr id="56" name="s4_span_73_text"/>
          <p:cNvSpPr/>
          <p:nvPr/>
        </p:nvSpPr>
        <p:spPr>
          <a:xfrm>
            <a:off x="5214699" y="6435090"/>
            <a:ext cx="2254544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once, revise freely, reuse continuously.</a:t>
            </a:r>
            <a:endParaRPr lang="en-US" sz="780" dirty="0"/>
          </a:p>
        </p:txBody>
      </p:sp>
      <p:sp>
        <p:nvSpPr>
          <p:cNvPr id="57" name="s4_span_74_text"/>
          <p:cNvSpPr/>
          <p:nvPr/>
        </p:nvSpPr>
        <p:spPr>
          <a:xfrm>
            <a:off x="11149846" y="6435090"/>
            <a:ext cx="441698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04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learn-deck-showcase-en</dc:title>
  <dc:subject>Editable PPTX converted from HTML with DOM positions</dc:subject>
  <dc:creator>Codex</dc:creator>
  <cp:lastModifiedBy>Codex</cp:lastModifiedBy>
  <cp:revision>1</cp:revision>
  <dcterms:created xsi:type="dcterms:W3CDTF">2026-07-10T05:34:38Z</dcterms:created>
  <dcterms:modified xsi:type="dcterms:W3CDTF">2026-07-10T05:34:38Z</dcterms:modified>
</cp:coreProperties>
</file>