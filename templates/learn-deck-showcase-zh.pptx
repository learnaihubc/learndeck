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1_radial_background_1"/>
          <p:cNvSpPr/>
          <p:nvPr/>
        </p:nvSpPr>
        <p:spPr>
          <a:xfrm>
            <a:off x="-3429000" y="-2209800"/>
            <a:ext cx="6858000" cy="4419600"/>
          </a:xfrm>
          <a:prstGeom prst="ellipse">
            <a:avLst/>
          </a:prstGeom>
          <a:solidFill>
            <a:srgbClr val="DCE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1_radial_background_2"/>
          <p:cNvSpPr/>
          <p:nvPr/>
        </p:nvSpPr>
        <p:spPr>
          <a:xfrm>
            <a:off x="9067800" y="4876800"/>
            <a:ext cx="6248400" cy="3962400"/>
          </a:xfrm>
          <a:prstGeom prst="ellipse">
            <a:avLst/>
          </a:prstGeom>
          <a:solidFill>
            <a:srgbClr val="F7E2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1_div_eyebrow_0_shape"/>
          <p:cNvSpPr/>
          <p:nvPr/>
        </p:nvSpPr>
        <p:spPr>
          <a:xfrm>
            <a:off x="579120" y="327660"/>
            <a:ext cx="2806303" cy="274320"/>
          </a:xfrm>
          <a:prstGeom prst="roundRect">
            <a:avLst>
              <a:gd name="adj" fmla="val 50000"/>
            </a:avLst>
          </a:prstGeom>
          <a:solidFill>
            <a:srgbClr val="F7F9FF">
              <a:alpha val="90000"/>
            </a:srgbClr>
          </a:solidFill>
          <a:ln w="7620">
            <a:solidFill>
              <a:srgbClr val="D9E0FB"/>
            </a:solidFill>
            <a:prstDash val="solid"/>
          </a:ln>
        </p:spPr>
      </p:sp>
      <p:sp>
        <p:nvSpPr>
          <p:cNvPr id="6" name="s1_div_cover-value_6_shape"/>
          <p:cNvSpPr/>
          <p:nvPr/>
        </p:nvSpPr>
        <p:spPr>
          <a:xfrm>
            <a:off x="579120" y="3139440"/>
            <a:ext cx="1432560" cy="899160"/>
          </a:xfrm>
          <a:prstGeom prst="roundRect">
            <a:avLst>
              <a:gd name="adj" fmla="val 14407"/>
            </a:avLst>
          </a:prstGeom>
          <a:solidFill>
            <a:srgbClr val="FFFFFF">
              <a:alpha val="95000"/>
            </a:srgbClr>
          </a:solidFill>
          <a:ln w="7620">
            <a:solidFill>
              <a:srgbClr val="E3E8F2"/>
            </a:solidFill>
            <a:prstDash val="solid"/>
          </a:ln>
          <a:effectLst>
            <a:outerShdw sx="100000" sy="100000" kx="0" ky="0" algn="bl" rotWithShape="0" blurRad="160020" dist="91440" dir="5400000">
              <a:srgbClr val="263A6A">
                <a:alpha val="8000"/>
              </a:srgbClr>
            </a:outerShdw>
          </a:effectLst>
        </p:spPr>
      </p:sp>
      <p:sp>
        <p:nvSpPr>
          <p:cNvPr id="7" name="s1_div_cover-value-dot_7_shape"/>
          <p:cNvSpPr/>
          <p:nvPr/>
        </p:nvSpPr>
        <p:spPr>
          <a:xfrm>
            <a:off x="723900" y="3284220"/>
            <a:ext cx="76200" cy="76200"/>
          </a:xfrm>
          <a:prstGeom prst="roundRect">
            <a:avLst>
              <a:gd name="adj" fmla="val 500000"/>
            </a:avLst>
          </a:prstGeom>
          <a:solidFill>
            <a:srgbClr val="2F7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1_div_cover-value_10_shape"/>
          <p:cNvSpPr/>
          <p:nvPr/>
        </p:nvSpPr>
        <p:spPr>
          <a:xfrm>
            <a:off x="2125980" y="3139440"/>
            <a:ext cx="1432560" cy="899160"/>
          </a:xfrm>
          <a:prstGeom prst="roundRect">
            <a:avLst>
              <a:gd name="adj" fmla="val 14407"/>
            </a:avLst>
          </a:prstGeom>
          <a:solidFill>
            <a:srgbClr val="FFFFFF">
              <a:alpha val="95000"/>
            </a:srgbClr>
          </a:solidFill>
          <a:ln w="7620">
            <a:solidFill>
              <a:srgbClr val="E3E8F2"/>
            </a:solidFill>
            <a:prstDash val="solid"/>
          </a:ln>
          <a:effectLst>
            <a:outerShdw sx="100000" sy="100000" kx="0" ky="0" algn="bl" rotWithShape="0" blurRad="160020" dist="91440" dir="5400000">
              <a:srgbClr val="263A6A">
                <a:alpha val="8000"/>
              </a:srgbClr>
            </a:outerShdw>
          </a:effectLst>
        </p:spPr>
      </p:sp>
      <p:sp>
        <p:nvSpPr>
          <p:cNvPr id="9" name="s1_div_cover-value-dot_11_shape"/>
          <p:cNvSpPr/>
          <p:nvPr/>
        </p:nvSpPr>
        <p:spPr>
          <a:xfrm>
            <a:off x="2270760" y="3284220"/>
            <a:ext cx="76200" cy="76200"/>
          </a:xfrm>
          <a:prstGeom prst="roundRect">
            <a:avLst>
              <a:gd name="adj" fmla="val 500000"/>
            </a:avLst>
          </a:prstGeom>
          <a:solidFill>
            <a:srgbClr val="0AA49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1_div_cover-value_14_shape"/>
          <p:cNvSpPr/>
          <p:nvPr/>
        </p:nvSpPr>
        <p:spPr>
          <a:xfrm>
            <a:off x="3672840" y="3139440"/>
            <a:ext cx="1432560" cy="899160"/>
          </a:xfrm>
          <a:prstGeom prst="roundRect">
            <a:avLst>
              <a:gd name="adj" fmla="val 14407"/>
            </a:avLst>
          </a:prstGeom>
          <a:solidFill>
            <a:srgbClr val="FFFFFF">
              <a:alpha val="95000"/>
            </a:srgbClr>
          </a:solidFill>
          <a:ln w="7620">
            <a:solidFill>
              <a:srgbClr val="E3E8F2"/>
            </a:solidFill>
            <a:prstDash val="solid"/>
          </a:ln>
          <a:effectLst>
            <a:outerShdw sx="100000" sy="100000" kx="0" ky="0" algn="bl" rotWithShape="0" blurRad="160020" dist="91440" dir="5400000">
              <a:srgbClr val="263A6A">
                <a:alpha val="8000"/>
              </a:srgbClr>
            </a:outerShdw>
          </a:effectLst>
        </p:spPr>
      </p:sp>
      <p:sp>
        <p:nvSpPr>
          <p:cNvPr id="11" name="s1_div_cover-value-dot_15_shape"/>
          <p:cNvSpPr/>
          <p:nvPr/>
        </p:nvSpPr>
        <p:spPr>
          <a:xfrm>
            <a:off x="3817620" y="3284220"/>
            <a:ext cx="76200" cy="76200"/>
          </a:xfrm>
          <a:prstGeom prst="roundRect">
            <a:avLst>
              <a:gd name="adj" fmla="val 500000"/>
            </a:avLst>
          </a:prstGeom>
          <a:solidFill>
            <a:srgbClr val="7B35E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1_div_cover-pipeline_18_shape"/>
          <p:cNvSpPr/>
          <p:nvPr/>
        </p:nvSpPr>
        <p:spPr>
          <a:xfrm>
            <a:off x="579120" y="4343400"/>
            <a:ext cx="4876800" cy="655320"/>
          </a:xfrm>
          <a:prstGeom prst="roundRect">
            <a:avLst>
              <a:gd name="adj" fmla="val 20930"/>
            </a:avLst>
          </a:prstGeom>
          <a:gradFill rotWithShape="1">
            <a:gsLst>
              <a:gs pos="0">
                <a:srgbClr val="F1F5FF"/>
              </a:gs>
              <a:gs pos="100000">
                <a:srgbClr val="FFF5FB"/>
              </a:gs>
            </a:gsLst>
            <a:lin ang="6300000" scaled="1"/>
          </a:gradFill>
          <a:ln w="7620">
            <a:solidFill>
              <a:srgbClr val="E0E6F3"/>
            </a:solidFill>
            <a:prstDash val="solid"/>
          </a:ln>
        </p:spPr>
      </p:sp>
      <p:sp>
        <p:nvSpPr>
          <p:cNvPr id="13" name="s1_div_hero-shell_26_shape"/>
          <p:cNvSpPr/>
          <p:nvPr/>
        </p:nvSpPr>
        <p:spPr>
          <a:xfrm>
            <a:off x="6126480" y="655320"/>
            <a:ext cx="5486400" cy="5516880"/>
          </a:xfrm>
          <a:prstGeom prst="roundRect">
            <a:avLst>
              <a:gd name="adj" fmla="val 3333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DFE5F0"/>
            </a:solidFill>
            <a:prstDash val="solid"/>
          </a:ln>
          <a:effectLst>
            <a:outerShdw sx="100000" sy="100000" kx="0" ky="0" algn="bl" rotWithShape="0" blurRad="309372" dist="182880" dir="5400000">
              <a:srgbClr val="1F3362">
                <a:alpha val="15000"/>
              </a:srgbClr>
            </a:outerShdw>
          </a:effectLst>
        </p:spPr>
      </p:sp>
      <p:sp>
        <p:nvSpPr>
          <p:cNvPr id="14" name="s1_span_29_shape"/>
          <p:cNvSpPr/>
          <p:nvPr/>
        </p:nvSpPr>
        <p:spPr>
          <a:xfrm>
            <a:off x="6271260" y="880110"/>
            <a:ext cx="68580" cy="68580"/>
          </a:xfrm>
          <a:prstGeom prst="ellipse">
            <a:avLst>
              <a:gd name="adj" fmla="val 555556"/>
            </a:avLst>
          </a:prstGeom>
          <a:solidFill>
            <a:srgbClr val="FF7B6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_span_30_shape"/>
          <p:cNvSpPr/>
          <p:nvPr/>
        </p:nvSpPr>
        <p:spPr>
          <a:xfrm>
            <a:off x="6393180" y="880110"/>
            <a:ext cx="68580" cy="68580"/>
          </a:xfrm>
          <a:prstGeom prst="ellipse">
            <a:avLst>
              <a:gd name="adj" fmla="val 555556"/>
            </a:avLst>
          </a:prstGeom>
          <a:solidFill>
            <a:srgbClr val="FFC8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1_span_31_shape"/>
          <p:cNvSpPr/>
          <p:nvPr/>
        </p:nvSpPr>
        <p:spPr>
          <a:xfrm>
            <a:off x="6515100" y="880110"/>
            <a:ext cx="68580" cy="68580"/>
          </a:xfrm>
          <a:prstGeom prst="ellipse">
            <a:avLst>
              <a:gd name="adj" fmla="val 555556"/>
            </a:avLst>
          </a:prstGeom>
          <a:solidFill>
            <a:srgbClr val="52CF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1_div_mini-slide_32_shape"/>
          <p:cNvSpPr/>
          <p:nvPr/>
        </p:nvSpPr>
        <p:spPr>
          <a:xfrm>
            <a:off x="6271260" y="1089660"/>
            <a:ext cx="5196840" cy="2926080"/>
          </a:xfrm>
          <a:prstGeom prst="roundRect">
            <a:avLst>
              <a:gd name="adj" fmla="val 3385"/>
            </a:avLst>
          </a:prstGeom>
          <a:solidFill>
            <a:srgbClr val="DCE7FF"/>
          </a:solidFill>
          <a:ln w="7620">
            <a:solidFill>
              <a:srgbClr val="E2E7F0"/>
            </a:solidFill>
            <a:prstDash val="solid"/>
          </a:ln>
        </p:spPr>
      </p:sp>
      <p:sp>
        <p:nvSpPr>
          <p:cNvPr id="18" name="s1_div_mini-pill_33_shape"/>
          <p:cNvSpPr/>
          <p:nvPr/>
        </p:nvSpPr>
        <p:spPr>
          <a:xfrm>
            <a:off x="6492240" y="1280160"/>
            <a:ext cx="1005840" cy="144780"/>
          </a:xfrm>
          <a:prstGeom prst="roundRect">
            <a:avLst>
              <a:gd name="adj" fmla="val 52632"/>
            </a:avLst>
          </a:prstGeom>
          <a:solidFill>
            <a:srgbClr val="FFFFFF">
              <a:alpha val="0"/>
            </a:srgbClr>
          </a:solidFill>
          <a:ln w="7620">
            <a:solidFill>
              <a:srgbClr val="D7DEF9"/>
            </a:solidFill>
            <a:prstDash val="solid"/>
          </a:ln>
        </p:spPr>
      </p:sp>
      <p:sp>
        <p:nvSpPr>
          <p:cNvPr id="19" name="s1_div_mini-title_34_shape"/>
          <p:cNvSpPr/>
          <p:nvPr/>
        </p:nvSpPr>
        <p:spPr>
          <a:xfrm>
            <a:off x="6492240" y="1592580"/>
            <a:ext cx="2255520" cy="190500"/>
          </a:xfrm>
          <a:prstGeom prst="roundRect">
            <a:avLst>
              <a:gd name="adj" fmla="val 20000"/>
            </a:avLst>
          </a:prstGeom>
          <a:solidFill>
            <a:srgbClr val="1824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1_div_mini-subtitle_35_shape"/>
          <p:cNvSpPr/>
          <p:nvPr/>
        </p:nvSpPr>
        <p:spPr>
          <a:xfrm>
            <a:off x="6492240" y="1905000"/>
            <a:ext cx="3124200" cy="60960"/>
          </a:xfrm>
          <a:prstGeom prst="roundRect">
            <a:avLst>
              <a:gd name="adj" fmla="val 50000"/>
            </a:avLst>
          </a:prstGeom>
          <a:solidFill>
            <a:srgbClr val="A8B3C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1_span_blue-gradient_37_shape"/>
          <p:cNvSpPr/>
          <p:nvPr/>
        </p:nvSpPr>
        <p:spPr>
          <a:xfrm>
            <a:off x="6492240" y="2202180"/>
            <a:ext cx="1131570" cy="655320"/>
          </a:xfrm>
          <a:prstGeom prst="roundRect">
            <a:avLst>
              <a:gd name="adj" fmla="val 15116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96012" dist="60960" dir="5400000">
              <a:srgbClr val="273B68">
                <a:alpha val="12000"/>
              </a:srgbClr>
            </a:outerShdw>
          </a:effectLst>
        </p:spPr>
      </p:sp>
      <p:sp>
        <p:nvSpPr>
          <p:cNvPr id="22" name="s1_span_teal-gradient_38_shape"/>
          <p:cNvSpPr/>
          <p:nvPr/>
        </p:nvSpPr>
        <p:spPr>
          <a:xfrm>
            <a:off x="7700010" y="2202180"/>
            <a:ext cx="1131570" cy="655320"/>
          </a:xfrm>
          <a:prstGeom prst="roundRect">
            <a:avLst>
              <a:gd name="adj" fmla="val 15116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96012" dist="60960" dir="5400000">
              <a:srgbClr val="273B68">
                <a:alpha val="12000"/>
              </a:srgbClr>
            </a:outerShdw>
          </a:effectLst>
        </p:spPr>
      </p:sp>
      <p:sp>
        <p:nvSpPr>
          <p:cNvPr id="23" name="s1_span_purple-gradient_39_shape"/>
          <p:cNvSpPr/>
          <p:nvPr/>
        </p:nvSpPr>
        <p:spPr>
          <a:xfrm>
            <a:off x="8907780" y="2202180"/>
            <a:ext cx="1131570" cy="655320"/>
          </a:xfrm>
          <a:prstGeom prst="roundRect">
            <a:avLst>
              <a:gd name="adj" fmla="val 15116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96012" dist="60960" dir="5400000">
              <a:srgbClr val="273B68">
                <a:alpha val="12000"/>
              </a:srgbClr>
            </a:outerShdw>
          </a:effectLst>
        </p:spPr>
      </p:sp>
      <p:sp>
        <p:nvSpPr>
          <p:cNvPr id="24" name="s1_span_orange-gradient_40_shape"/>
          <p:cNvSpPr/>
          <p:nvPr/>
        </p:nvSpPr>
        <p:spPr>
          <a:xfrm>
            <a:off x="10115550" y="2202180"/>
            <a:ext cx="1131570" cy="655320"/>
          </a:xfrm>
          <a:prstGeom prst="roundRect">
            <a:avLst>
              <a:gd name="adj" fmla="val 15116"/>
            </a:avLst>
          </a:prstGeom>
          <a:gradFill rotWithShape="1">
            <a:gsLst>
              <a:gs pos="0">
                <a:srgbClr val="FF8737"/>
              </a:gs>
              <a:gs pos="100000">
                <a:srgbClr val="F15B0E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96012" dist="60960" dir="5400000">
              <a:srgbClr val="273B68">
                <a:alpha val="12000"/>
              </a:srgbClr>
            </a:outerShdw>
          </a:effectLst>
        </p:spPr>
      </p:sp>
      <p:sp>
        <p:nvSpPr>
          <p:cNvPr id="25" name="s1_span_42_shape"/>
          <p:cNvSpPr/>
          <p:nvPr/>
        </p:nvSpPr>
        <p:spPr>
          <a:xfrm>
            <a:off x="6492240" y="2987040"/>
            <a:ext cx="1524000" cy="777240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7620">
            <a:solidFill>
              <a:srgbClr val="E1E7F0"/>
            </a:solidFill>
            <a:prstDash val="solid"/>
          </a:ln>
          <a:effectLst>
            <a:outerShdw sx="100000" sy="100000" kx="0" ky="0" algn="bl" rotWithShape="0" blurRad="96012" dist="53340" dir="5400000">
              <a:srgbClr val="243866">
                <a:alpha val="7000"/>
              </a:srgbClr>
            </a:outerShdw>
          </a:effectLst>
        </p:spPr>
      </p:sp>
      <p:sp>
        <p:nvSpPr>
          <p:cNvPr id="26" name="s1_span_43_shape"/>
          <p:cNvSpPr/>
          <p:nvPr/>
        </p:nvSpPr>
        <p:spPr>
          <a:xfrm>
            <a:off x="8107680" y="2987040"/>
            <a:ext cx="1524000" cy="777240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7620">
            <a:solidFill>
              <a:srgbClr val="E1E7F0"/>
            </a:solidFill>
            <a:prstDash val="solid"/>
          </a:ln>
          <a:effectLst>
            <a:outerShdw sx="100000" sy="100000" kx="0" ky="0" algn="bl" rotWithShape="0" blurRad="96012" dist="53340" dir="5400000">
              <a:srgbClr val="243866">
                <a:alpha val="7000"/>
              </a:srgbClr>
            </a:outerShdw>
          </a:effectLst>
        </p:spPr>
      </p:sp>
      <p:sp>
        <p:nvSpPr>
          <p:cNvPr id="27" name="s1_span_44_shape"/>
          <p:cNvSpPr/>
          <p:nvPr/>
        </p:nvSpPr>
        <p:spPr>
          <a:xfrm>
            <a:off x="9723120" y="2987040"/>
            <a:ext cx="1524000" cy="777240"/>
          </a:xfrm>
          <a:prstGeom prst="roundRect">
            <a:avLst>
              <a:gd name="adj" fmla="val 12745"/>
            </a:avLst>
          </a:prstGeom>
          <a:solidFill>
            <a:srgbClr val="FFFFFF"/>
          </a:solidFill>
          <a:ln w="7620">
            <a:solidFill>
              <a:srgbClr val="E1E7F0"/>
            </a:solidFill>
            <a:prstDash val="solid"/>
          </a:ln>
          <a:effectLst>
            <a:outerShdw sx="100000" sy="100000" kx="0" ky="0" algn="bl" rotWithShape="0" blurRad="96012" dist="53340" dir="5400000">
              <a:srgbClr val="243866">
                <a:alpha val="7000"/>
              </a:srgbClr>
            </a:outerShdw>
          </a:effectLst>
        </p:spPr>
      </p:sp>
      <p:sp>
        <p:nvSpPr>
          <p:cNvPr id="28" name="s1_div_delivery-card_47_shape"/>
          <p:cNvSpPr/>
          <p:nvPr/>
        </p:nvSpPr>
        <p:spPr>
          <a:xfrm>
            <a:off x="6271260" y="4419600"/>
            <a:ext cx="1681401" cy="777240"/>
          </a:xfrm>
          <a:prstGeom prst="roundRect">
            <a:avLst>
              <a:gd name="adj" fmla="val 13725"/>
            </a:avLst>
          </a:prstGeom>
          <a:solidFill>
            <a:srgbClr val="FBFCFF"/>
          </a:solidFill>
          <a:ln w="7620">
            <a:solidFill>
              <a:srgbClr val="E4E9F2"/>
            </a:solidFill>
            <a:prstDash val="solid"/>
          </a:ln>
        </p:spPr>
      </p:sp>
      <p:sp>
        <p:nvSpPr>
          <p:cNvPr id="29" name="s1_div_delivery-icon_blue-gradient_48_shape"/>
          <p:cNvSpPr/>
          <p:nvPr/>
        </p:nvSpPr>
        <p:spPr>
          <a:xfrm>
            <a:off x="6377940" y="4533900"/>
            <a:ext cx="259080" cy="259080"/>
          </a:xfrm>
          <a:prstGeom prst="roundRect">
            <a:avLst>
              <a:gd name="adj" fmla="val 29412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1_div_delivery-card_51_shape"/>
          <p:cNvSpPr/>
          <p:nvPr/>
        </p:nvSpPr>
        <p:spPr>
          <a:xfrm>
            <a:off x="8028861" y="4419600"/>
            <a:ext cx="1681520" cy="777240"/>
          </a:xfrm>
          <a:prstGeom prst="roundRect">
            <a:avLst>
              <a:gd name="adj" fmla="val 13725"/>
            </a:avLst>
          </a:prstGeom>
          <a:solidFill>
            <a:srgbClr val="FBFCFF"/>
          </a:solidFill>
          <a:ln w="7620">
            <a:solidFill>
              <a:srgbClr val="E4E9F2"/>
            </a:solidFill>
            <a:prstDash val="solid"/>
          </a:ln>
        </p:spPr>
      </p:sp>
      <p:sp>
        <p:nvSpPr>
          <p:cNvPr id="31" name="s1_div_delivery-icon_teal-gradient_52_shape"/>
          <p:cNvSpPr/>
          <p:nvPr/>
        </p:nvSpPr>
        <p:spPr>
          <a:xfrm>
            <a:off x="8135541" y="4533900"/>
            <a:ext cx="259080" cy="259080"/>
          </a:xfrm>
          <a:prstGeom prst="roundRect">
            <a:avLst>
              <a:gd name="adj" fmla="val 29412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1_div_delivery-card_55_shape"/>
          <p:cNvSpPr/>
          <p:nvPr/>
        </p:nvSpPr>
        <p:spPr>
          <a:xfrm>
            <a:off x="9786580" y="4419600"/>
            <a:ext cx="1681520" cy="777240"/>
          </a:xfrm>
          <a:prstGeom prst="roundRect">
            <a:avLst>
              <a:gd name="adj" fmla="val 13725"/>
            </a:avLst>
          </a:prstGeom>
          <a:solidFill>
            <a:srgbClr val="FBFCFF"/>
          </a:solidFill>
          <a:ln w="7620">
            <a:solidFill>
              <a:srgbClr val="E4E9F2"/>
            </a:solidFill>
            <a:prstDash val="solid"/>
          </a:ln>
        </p:spPr>
      </p:sp>
      <p:sp>
        <p:nvSpPr>
          <p:cNvPr id="33" name="s1_div_delivery-icon_purple-gradient_56_shape"/>
          <p:cNvSpPr/>
          <p:nvPr/>
        </p:nvSpPr>
        <p:spPr>
          <a:xfrm>
            <a:off x="9893260" y="4533900"/>
            <a:ext cx="259080" cy="259080"/>
          </a:xfrm>
          <a:prstGeom prst="roundRect">
            <a:avLst>
              <a:gd name="adj" fmla="val 29412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s1_div_footer-bar_59_shape"/>
          <p:cNvSpPr/>
          <p:nvPr/>
        </p:nvSpPr>
        <p:spPr>
          <a:xfrm>
            <a:off x="579120" y="6309360"/>
            <a:ext cx="11033760" cy="365760"/>
          </a:xfrm>
          <a:prstGeom prst="roundRect">
            <a:avLst>
              <a:gd name="adj" fmla="val 31250"/>
            </a:avLst>
          </a:prstGeom>
          <a:gradFill rotWithShape="1">
            <a:gsLst>
              <a:gs pos="0">
                <a:srgbClr val="F2F5FF"/>
              </a:gs>
              <a:gs pos="100000">
                <a:srgbClr val="FFF7FB"/>
              </a:gs>
            </a:gsLst>
            <a:lin ang="6300000" scaled="1"/>
          </a:gradFill>
          <a:ln w="7620">
            <a:solidFill>
              <a:srgbClr val="E2E7F5"/>
            </a:solidFill>
            <a:prstDash val="solid"/>
          </a:ln>
        </p:spPr>
      </p:sp>
      <p:sp>
        <p:nvSpPr>
          <p:cNvPr id="35" name="s1_div_eyebrow_0_text"/>
          <p:cNvSpPr/>
          <p:nvPr/>
        </p:nvSpPr>
        <p:spPr>
          <a:xfrm>
            <a:off x="716280" y="327660"/>
            <a:ext cx="2692003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900" b="1" spc="48" kern="0" dirty="0">
                <a:solidFill>
                  <a:srgbClr val="6472F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LEARNDECK · AI PRESENTATION ENGINE</a:t>
            </a:r>
            <a:endParaRPr lang="en-US" sz="900" dirty="0"/>
          </a:p>
        </p:txBody>
      </p:sp>
      <p:sp>
        <p:nvSpPr>
          <p:cNvPr id="36" name="s1_div_page-num_1_text"/>
          <p:cNvSpPr/>
          <p:nvPr/>
        </p:nvSpPr>
        <p:spPr>
          <a:xfrm>
            <a:off x="11209972" y="388620"/>
            <a:ext cx="562927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9AA7B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 / 04</a:t>
            </a:r>
            <a:endParaRPr lang="en-US" sz="900" dirty="0"/>
          </a:p>
        </p:txBody>
      </p:sp>
      <p:sp>
        <p:nvSpPr>
          <p:cNvPr id="37" name="s1_h1_cover-title_2_text"/>
          <p:cNvSpPr/>
          <p:nvPr/>
        </p:nvSpPr>
        <p:spPr>
          <a:xfrm>
            <a:off x="579120" y="952500"/>
            <a:ext cx="5699760" cy="11384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018"/>
              </a:lnSpc>
              <a:buNone/>
            </a:pPr>
            <a:r>
              <a:rPr lang="en-US" sz="3720" b="1" spc="-96" kern="0" dirty="0">
                <a:solidFill>
                  <a:srgbClr val="1723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让知识一键变成</a:t>
            </a:r>
            <a:pPr algn="l" indent="0" marL="0">
              <a:lnSpc>
                <a:spcPts val="4018"/>
              </a:lnSpc>
              <a:buNone/>
            </a:pPr>
            <a:r>
              <a:rPr lang="en-US" sz="3720" b="1" spc="-96" kern="0" dirty="0">
                <a:solidFill>
                  <a:srgbClr val="1723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
</a:t>
            </a:r>
            <a:pPr algn="l" indent="0" marL="0">
              <a:lnSpc>
                <a:spcPts val="4018"/>
              </a:lnSpc>
              <a:buNone/>
            </a:pPr>
            <a:r>
              <a:rPr lang="en-US" sz="3720" b="1" spc="-96" kern="0" dirty="0">
                <a:solidFill>
                  <a:srgbClr val="6549E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可编辑的高质量 PPT</a:t>
            </a:r>
            <a:endParaRPr lang="en-US" sz="3720" dirty="0"/>
          </a:p>
        </p:txBody>
      </p:sp>
      <p:sp>
        <p:nvSpPr>
          <p:cNvPr id="38" name="s1_p_cover-subtitle_4_text"/>
          <p:cNvSpPr/>
          <p:nvPr/>
        </p:nvSpPr>
        <p:spPr>
          <a:xfrm>
            <a:off x="579120" y="2179320"/>
            <a:ext cx="516636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62738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从一个主题、一份提纲或一组资料开始，生成结构清晰、视觉统一、对象可继续编辑的完整演示稿。</a:t>
            </a:r>
            <a:endParaRPr lang="en-US" sz="1200" dirty="0"/>
          </a:p>
        </p:txBody>
      </p:sp>
      <p:sp>
        <p:nvSpPr>
          <p:cNvPr id="39" name="s1_div_cover-value-title_8_text"/>
          <p:cNvSpPr/>
          <p:nvPr/>
        </p:nvSpPr>
        <p:spPr>
          <a:xfrm>
            <a:off x="723900" y="3467100"/>
            <a:ext cx="1345692" cy="20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1B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清晰结构</a:t>
            </a:r>
            <a:endParaRPr lang="en-US" sz="1140" dirty="0"/>
          </a:p>
        </p:txBody>
      </p:sp>
      <p:sp>
        <p:nvSpPr>
          <p:cNvPr id="40" name="s1_div_cover-value-note_9_text"/>
          <p:cNvSpPr/>
          <p:nvPr/>
        </p:nvSpPr>
        <p:spPr>
          <a:xfrm>
            <a:off x="723900" y="3694152"/>
            <a:ext cx="1271016" cy="269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20" dirty="0">
                <a:solidFill>
                  <a:srgbClr val="74829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标题、重点与页面节奏更容易理解</a:t>
            </a:r>
            <a:endParaRPr lang="en-US" sz="720" dirty="0"/>
          </a:p>
        </p:txBody>
      </p:sp>
      <p:sp>
        <p:nvSpPr>
          <p:cNvPr id="41" name="s1_div_cover-value-title_12_text"/>
          <p:cNvSpPr/>
          <p:nvPr/>
        </p:nvSpPr>
        <p:spPr>
          <a:xfrm>
            <a:off x="2270760" y="3467100"/>
            <a:ext cx="1345692" cy="20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1B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专业视觉</a:t>
            </a:r>
            <a:endParaRPr lang="en-US" sz="1140" dirty="0"/>
          </a:p>
        </p:txBody>
      </p:sp>
      <p:sp>
        <p:nvSpPr>
          <p:cNvPr id="42" name="s1_div_cover-value-note_13_text"/>
          <p:cNvSpPr/>
          <p:nvPr/>
        </p:nvSpPr>
        <p:spPr>
          <a:xfrm>
            <a:off x="2270760" y="3694152"/>
            <a:ext cx="1271016" cy="14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20" dirty="0">
                <a:solidFill>
                  <a:srgbClr val="74829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统一配色、间距与信息层级</a:t>
            </a:r>
            <a:endParaRPr lang="en-US" sz="720" dirty="0"/>
          </a:p>
        </p:txBody>
      </p:sp>
      <p:sp>
        <p:nvSpPr>
          <p:cNvPr id="43" name="s1_div_cover-value-title_16_text"/>
          <p:cNvSpPr/>
          <p:nvPr/>
        </p:nvSpPr>
        <p:spPr>
          <a:xfrm>
            <a:off x="3817620" y="3467100"/>
            <a:ext cx="1345692" cy="2099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1140" b="1" dirty="0">
                <a:solidFill>
                  <a:srgbClr val="1B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可编辑交付</a:t>
            </a:r>
            <a:endParaRPr lang="en-US" sz="1140" dirty="0"/>
          </a:p>
        </p:txBody>
      </p:sp>
      <p:sp>
        <p:nvSpPr>
          <p:cNvPr id="44" name="s1_div_cover-value-note_17_text"/>
          <p:cNvSpPr/>
          <p:nvPr/>
        </p:nvSpPr>
        <p:spPr>
          <a:xfrm>
            <a:off x="3817620" y="3694152"/>
            <a:ext cx="1271016" cy="1462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2"/>
              </a:lnSpc>
              <a:buNone/>
            </a:pPr>
            <a:r>
              <a:rPr lang="en-US" sz="720" dirty="0">
                <a:solidFill>
                  <a:srgbClr val="74829A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文字、色块与图标保持独立</a:t>
            </a:r>
            <a:endParaRPr lang="en-US" sz="720" dirty="0"/>
          </a:p>
        </p:txBody>
      </p:sp>
      <p:sp>
        <p:nvSpPr>
          <p:cNvPr id="45" name="s1_span_19_text"/>
          <p:cNvSpPr/>
          <p:nvPr/>
        </p:nvSpPr>
        <p:spPr>
          <a:xfrm>
            <a:off x="1398508" y="4606290"/>
            <a:ext cx="617220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内容输入</a:t>
            </a:r>
            <a:endParaRPr lang="en-US" sz="900" dirty="0"/>
          </a:p>
        </p:txBody>
      </p:sp>
      <p:sp>
        <p:nvSpPr>
          <p:cNvPr id="46" name="s1_span_arrow_20_text"/>
          <p:cNvSpPr/>
          <p:nvPr/>
        </p:nvSpPr>
        <p:spPr>
          <a:xfrm>
            <a:off x="1954768" y="4579620"/>
            <a:ext cx="3733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D99A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60" dirty="0"/>
          </a:p>
        </p:txBody>
      </p:sp>
      <p:sp>
        <p:nvSpPr>
          <p:cNvPr id="47" name="s1_span_21_text"/>
          <p:cNvSpPr/>
          <p:nvPr/>
        </p:nvSpPr>
        <p:spPr>
          <a:xfrm>
            <a:off x="2213848" y="4606290"/>
            <a:ext cx="735806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HTML 排版</a:t>
            </a:r>
            <a:endParaRPr lang="en-US" sz="900" dirty="0"/>
          </a:p>
        </p:txBody>
      </p:sp>
      <p:sp>
        <p:nvSpPr>
          <p:cNvPr id="48" name="s1_span_arrow_22_text"/>
          <p:cNvSpPr/>
          <p:nvPr/>
        </p:nvSpPr>
        <p:spPr>
          <a:xfrm>
            <a:off x="2888694" y="4579620"/>
            <a:ext cx="3733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D99A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60" dirty="0"/>
          </a:p>
        </p:txBody>
      </p:sp>
      <p:sp>
        <p:nvSpPr>
          <p:cNvPr id="49" name="s1_span_23_text"/>
          <p:cNvSpPr/>
          <p:nvPr/>
        </p:nvSpPr>
        <p:spPr>
          <a:xfrm>
            <a:off x="3147774" y="4606290"/>
            <a:ext cx="731520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浏览器定位</a:t>
            </a:r>
            <a:endParaRPr lang="en-US" sz="900" dirty="0"/>
          </a:p>
        </p:txBody>
      </p:sp>
      <p:sp>
        <p:nvSpPr>
          <p:cNvPr id="50" name="s1_span_arrow_24_text"/>
          <p:cNvSpPr/>
          <p:nvPr/>
        </p:nvSpPr>
        <p:spPr>
          <a:xfrm>
            <a:off x="3818334" y="4579620"/>
            <a:ext cx="373380" cy="22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8D99A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→</a:t>
            </a:r>
            <a:endParaRPr lang="en-US" sz="1260" dirty="0"/>
          </a:p>
        </p:txBody>
      </p:sp>
      <p:sp>
        <p:nvSpPr>
          <p:cNvPr id="51" name="s1_span_25_text"/>
          <p:cNvSpPr/>
          <p:nvPr/>
        </p:nvSpPr>
        <p:spPr>
          <a:xfrm>
            <a:off x="4077414" y="4606290"/>
            <a:ext cx="719018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E4F6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PPTX 重建</a:t>
            </a:r>
            <a:endParaRPr lang="en-US" sz="900" dirty="0"/>
          </a:p>
        </p:txBody>
      </p:sp>
      <p:sp>
        <p:nvSpPr>
          <p:cNvPr id="52" name="s1_div_window-bar_27_text"/>
          <p:cNvSpPr/>
          <p:nvPr/>
        </p:nvSpPr>
        <p:spPr>
          <a:xfrm>
            <a:off x="6271260" y="800100"/>
            <a:ext cx="5324856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</a:t>
            </a:r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</a:t>
            </a:r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</a:t>
            </a:r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</a:t>
            </a:r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</a:t>
            </a:r>
            <a:pPr algn="l" indent="0" marL="0">
              <a:buNone/>
            </a:pPr>
            <a:r>
              <a:rPr lang="en-US" sz="720" b="1" dirty="0">
                <a:solidFill>
                  <a:srgbClr val="58698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 LearnDeck editable presentation preview </a:t>
            </a:r>
            <a:endParaRPr lang="en-US" sz="720" dirty="0"/>
          </a:p>
        </p:txBody>
      </p:sp>
      <p:sp>
        <p:nvSpPr>
          <p:cNvPr id="53" name="s1_div_delivery-title_45_text"/>
          <p:cNvSpPr/>
          <p:nvPr/>
        </p:nvSpPr>
        <p:spPr>
          <a:xfrm>
            <a:off x="6294120" y="4168140"/>
            <a:ext cx="5343144" cy="194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1B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交付结果保持可编辑</a:t>
            </a:r>
            <a:endParaRPr lang="en-US" sz="1080" dirty="0"/>
          </a:p>
        </p:txBody>
      </p:sp>
      <p:sp>
        <p:nvSpPr>
          <p:cNvPr id="54" name="s1_div_delivery-icon_blue-gradient_48_text"/>
          <p:cNvSpPr/>
          <p:nvPr/>
        </p:nvSpPr>
        <p:spPr>
          <a:xfrm>
            <a:off x="6377940" y="4533900"/>
            <a:ext cx="419100" cy="287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</a:t>
            </a:r>
            <a:endParaRPr lang="en-US" sz="900" dirty="0"/>
          </a:p>
        </p:txBody>
      </p:sp>
      <p:sp>
        <p:nvSpPr>
          <p:cNvPr id="55" name="s1_div_delivery-name_49_text"/>
          <p:cNvSpPr/>
          <p:nvPr/>
        </p:nvSpPr>
        <p:spPr>
          <a:xfrm>
            <a:off x="6377940" y="4869180"/>
            <a:ext cx="1617393" cy="154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23324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独立文本框</a:t>
            </a:r>
            <a:endParaRPr lang="en-US" sz="840" dirty="0"/>
          </a:p>
        </p:txBody>
      </p:sp>
      <p:sp>
        <p:nvSpPr>
          <p:cNvPr id="56" name="s1_div_delivery-note_50_text"/>
          <p:cNvSpPr/>
          <p:nvPr/>
        </p:nvSpPr>
        <p:spPr>
          <a:xfrm>
            <a:off x="6377940" y="5027652"/>
            <a:ext cx="1580055" cy="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9"/>
              </a:lnSpc>
              <a:buNone/>
            </a:pPr>
            <a:r>
              <a:rPr lang="en-US" sz="630" dirty="0">
                <a:solidFill>
                  <a:srgbClr val="7B899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标题、正文与强调内容可修改</a:t>
            </a:r>
            <a:endParaRPr lang="en-US" sz="630" dirty="0"/>
          </a:p>
        </p:txBody>
      </p:sp>
      <p:sp>
        <p:nvSpPr>
          <p:cNvPr id="57" name="s1_div_delivery-icon_teal-gradient_52_text"/>
          <p:cNvSpPr/>
          <p:nvPr/>
        </p:nvSpPr>
        <p:spPr>
          <a:xfrm>
            <a:off x="8135541" y="4533900"/>
            <a:ext cx="419100" cy="287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□</a:t>
            </a:r>
            <a:endParaRPr lang="en-US" sz="900" dirty="0"/>
          </a:p>
        </p:txBody>
      </p:sp>
      <p:sp>
        <p:nvSpPr>
          <p:cNvPr id="58" name="s1_div_delivery-name_53_text"/>
          <p:cNvSpPr/>
          <p:nvPr/>
        </p:nvSpPr>
        <p:spPr>
          <a:xfrm>
            <a:off x="8135541" y="4869180"/>
            <a:ext cx="1617512" cy="154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23324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原生形状</a:t>
            </a:r>
            <a:endParaRPr lang="en-US" sz="840" dirty="0"/>
          </a:p>
        </p:txBody>
      </p:sp>
      <p:sp>
        <p:nvSpPr>
          <p:cNvPr id="59" name="s1_div_delivery-note_54_text"/>
          <p:cNvSpPr/>
          <p:nvPr/>
        </p:nvSpPr>
        <p:spPr>
          <a:xfrm>
            <a:off x="8135541" y="5027652"/>
            <a:ext cx="1580174" cy="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9"/>
              </a:lnSpc>
              <a:buNone/>
            </a:pPr>
            <a:r>
              <a:rPr lang="en-US" sz="630" dirty="0">
                <a:solidFill>
                  <a:srgbClr val="7B899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卡片、色块与渐变可重排</a:t>
            </a:r>
            <a:endParaRPr lang="en-US" sz="630" dirty="0"/>
          </a:p>
        </p:txBody>
      </p:sp>
      <p:sp>
        <p:nvSpPr>
          <p:cNvPr id="60" name="s1_div_delivery-icon_purple-gradient_56_text"/>
          <p:cNvSpPr/>
          <p:nvPr/>
        </p:nvSpPr>
        <p:spPr>
          <a:xfrm>
            <a:off x="9893260" y="4533900"/>
            <a:ext cx="419100" cy="287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◇</a:t>
            </a:r>
            <a:endParaRPr lang="en-US" sz="900" dirty="0"/>
          </a:p>
        </p:txBody>
      </p:sp>
      <p:sp>
        <p:nvSpPr>
          <p:cNvPr id="61" name="s1_div_delivery-name_57_text"/>
          <p:cNvSpPr/>
          <p:nvPr/>
        </p:nvSpPr>
        <p:spPr>
          <a:xfrm>
            <a:off x="9893260" y="4869180"/>
            <a:ext cx="1617512" cy="1546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8"/>
              </a:lnSpc>
              <a:buNone/>
            </a:pPr>
            <a:r>
              <a:rPr lang="en-US" sz="840" b="1" dirty="0">
                <a:solidFill>
                  <a:srgbClr val="23324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独立图标</a:t>
            </a:r>
            <a:endParaRPr lang="en-US" sz="840" dirty="0"/>
          </a:p>
        </p:txBody>
      </p:sp>
      <p:sp>
        <p:nvSpPr>
          <p:cNvPr id="62" name="s1_div_delivery-note_58_text"/>
          <p:cNvSpPr/>
          <p:nvPr/>
        </p:nvSpPr>
        <p:spPr>
          <a:xfrm>
            <a:off x="9893260" y="5027652"/>
            <a:ext cx="1580174" cy="12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19"/>
              </a:lnSpc>
              <a:buNone/>
            </a:pPr>
            <a:r>
              <a:rPr lang="en-US" sz="630" dirty="0">
                <a:solidFill>
                  <a:srgbClr val="7B899E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图标可移动、缩放与替换</a:t>
            </a:r>
            <a:endParaRPr lang="en-US" sz="630" dirty="0"/>
          </a:p>
        </p:txBody>
      </p:sp>
      <p:sp>
        <p:nvSpPr>
          <p:cNvPr id="63" name="s1_span_footer-brand_60_text"/>
          <p:cNvSpPr/>
          <p:nvPr/>
        </p:nvSpPr>
        <p:spPr>
          <a:xfrm>
            <a:off x="739140" y="6435090"/>
            <a:ext cx="794956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" kern="0" dirty="0">
                <a:solidFill>
                  <a:srgbClr val="3F37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LEARNDECK</a:t>
            </a:r>
            <a:endParaRPr lang="en-US" sz="780" dirty="0"/>
          </a:p>
        </p:txBody>
      </p:sp>
      <p:sp>
        <p:nvSpPr>
          <p:cNvPr id="64" name="s1_span_61_text"/>
          <p:cNvSpPr/>
          <p:nvPr/>
        </p:nvSpPr>
        <p:spPr>
          <a:xfrm>
            <a:off x="4675584" y="6435090"/>
            <a:ext cx="2949631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Turn knowledge into clear, polished, editable presentations.</a:t>
            </a:r>
            <a:endParaRPr lang="en-US" sz="780" dirty="0"/>
          </a:p>
        </p:txBody>
      </p:sp>
      <p:sp>
        <p:nvSpPr>
          <p:cNvPr id="65" name="s1_span_62_text"/>
          <p:cNvSpPr/>
          <p:nvPr/>
        </p:nvSpPr>
        <p:spPr>
          <a:xfrm>
            <a:off x="10766703" y="6435090"/>
            <a:ext cx="824841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HTML → PPTX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2_radial_background_1"/>
          <p:cNvSpPr/>
          <p:nvPr/>
        </p:nvSpPr>
        <p:spPr>
          <a:xfrm>
            <a:off x="-3429000" y="-2209800"/>
            <a:ext cx="6858000" cy="4419600"/>
          </a:xfrm>
          <a:prstGeom prst="ellipse">
            <a:avLst/>
          </a:prstGeom>
          <a:solidFill>
            <a:srgbClr val="DCE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2_radial_background_2"/>
          <p:cNvSpPr/>
          <p:nvPr/>
        </p:nvSpPr>
        <p:spPr>
          <a:xfrm>
            <a:off x="9067800" y="4876800"/>
            <a:ext cx="6248400" cy="3962400"/>
          </a:xfrm>
          <a:prstGeom prst="ellipse">
            <a:avLst/>
          </a:prstGeom>
          <a:solidFill>
            <a:srgbClr val="F7E2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2_div_eyebrow_0_shape"/>
          <p:cNvSpPr/>
          <p:nvPr/>
        </p:nvSpPr>
        <p:spPr>
          <a:xfrm>
            <a:off x="579120" y="327660"/>
            <a:ext cx="2335649" cy="274320"/>
          </a:xfrm>
          <a:prstGeom prst="roundRect">
            <a:avLst>
              <a:gd name="adj" fmla="val 50000"/>
            </a:avLst>
          </a:prstGeom>
          <a:solidFill>
            <a:srgbClr val="F7F9FF">
              <a:alpha val="90000"/>
            </a:srgbClr>
          </a:solidFill>
          <a:ln w="7620">
            <a:solidFill>
              <a:srgbClr val="D9E0FB"/>
            </a:solidFill>
            <a:prstDash val="solid"/>
          </a:ln>
        </p:spPr>
      </p:sp>
      <p:sp>
        <p:nvSpPr>
          <p:cNvPr id="6" name="s2_div_process-card_blue-gradient_5_shape"/>
          <p:cNvSpPr/>
          <p:nvPr/>
        </p:nvSpPr>
        <p:spPr>
          <a:xfrm>
            <a:off x="579120" y="1645920"/>
            <a:ext cx="2632710" cy="1562100"/>
          </a:xfrm>
          <a:prstGeom prst="roundRect">
            <a:avLst>
              <a:gd name="adj" fmla="val 10732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0688" dist="114300" dir="5400000">
              <a:srgbClr val="243D72">
                <a:alpha val="12000"/>
              </a:srgbClr>
            </a:outerShdw>
          </a:effectLst>
        </p:spPr>
      </p:sp>
      <p:sp>
        <p:nvSpPr>
          <p:cNvPr id="7" name="s2_div_icon-box_6_shape"/>
          <p:cNvSpPr/>
          <p:nvPr/>
        </p:nvSpPr>
        <p:spPr>
          <a:xfrm>
            <a:off x="746760" y="179832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2_div_process-card_teal-gradient_14_shape"/>
          <p:cNvSpPr/>
          <p:nvPr/>
        </p:nvSpPr>
        <p:spPr>
          <a:xfrm>
            <a:off x="3379470" y="1645920"/>
            <a:ext cx="2632710" cy="1562100"/>
          </a:xfrm>
          <a:prstGeom prst="roundRect">
            <a:avLst>
              <a:gd name="adj" fmla="val 10732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0688" dist="114300" dir="5400000">
              <a:srgbClr val="243D72">
                <a:alpha val="12000"/>
              </a:srgbClr>
            </a:outerShdw>
          </a:effectLst>
        </p:spPr>
      </p:sp>
      <p:sp>
        <p:nvSpPr>
          <p:cNvPr id="9" name="s2_div_icon-box_15_shape"/>
          <p:cNvSpPr/>
          <p:nvPr/>
        </p:nvSpPr>
        <p:spPr>
          <a:xfrm>
            <a:off x="3547110" y="179832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2_div_process-card_purple-gradient_22_shape"/>
          <p:cNvSpPr/>
          <p:nvPr/>
        </p:nvSpPr>
        <p:spPr>
          <a:xfrm>
            <a:off x="6179820" y="1645920"/>
            <a:ext cx="2632710" cy="1562100"/>
          </a:xfrm>
          <a:prstGeom prst="roundRect">
            <a:avLst>
              <a:gd name="adj" fmla="val 10732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0688" dist="114300" dir="5400000">
              <a:srgbClr val="243D72">
                <a:alpha val="12000"/>
              </a:srgbClr>
            </a:outerShdw>
          </a:effectLst>
        </p:spPr>
      </p:sp>
      <p:sp>
        <p:nvSpPr>
          <p:cNvPr id="11" name="s2_div_icon-box_23_shape"/>
          <p:cNvSpPr/>
          <p:nvPr/>
        </p:nvSpPr>
        <p:spPr>
          <a:xfrm>
            <a:off x="6347460" y="179832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2_div_process-card_orange-gradient_30_shape"/>
          <p:cNvSpPr/>
          <p:nvPr/>
        </p:nvSpPr>
        <p:spPr>
          <a:xfrm>
            <a:off x="8980170" y="1645920"/>
            <a:ext cx="2632710" cy="1562100"/>
          </a:xfrm>
          <a:prstGeom prst="roundRect">
            <a:avLst>
              <a:gd name="adj" fmla="val 10732"/>
            </a:avLst>
          </a:prstGeom>
          <a:gradFill rotWithShape="1">
            <a:gsLst>
              <a:gs pos="0">
                <a:srgbClr val="FF8737"/>
              </a:gs>
              <a:gs pos="100000">
                <a:srgbClr val="F15B0E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70688" dist="114300" dir="5400000">
              <a:srgbClr val="243D72">
                <a:alpha val="12000"/>
              </a:srgbClr>
            </a:outerShdw>
          </a:effectLst>
        </p:spPr>
      </p:sp>
      <p:sp>
        <p:nvSpPr>
          <p:cNvPr id="13" name="s2_div_icon-box_31_shape"/>
          <p:cNvSpPr/>
          <p:nvPr/>
        </p:nvSpPr>
        <p:spPr>
          <a:xfrm>
            <a:off x="9147810" y="179832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19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2_div_detail-card_39_shape"/>
          <p:cNvSpPr/>
          <p:nvPr/>
        </p:nvSpPr>
        <p:spPr>
          <a:xfrm>
            <a:off x="579120" y="3421380"/>
            <a:ext cx="3535680" cy="2674620"/>
          </a:xfrm>
          <a:prstGeom prst="roundRect">
            <a:avLst>
              <a:gd name="adj" fmla="val 5698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6EBF4"/>
            </a:solidFill>
            <a:prstDash val="solid"/>
          </a:ln>
          <a:effectLst>
            <a:outerShdw sx="100000" sy="100000" kx="0" ky="0" algn="bl" rotWithShape="0" blurRad="160020" dist="91440" dir="5400000">
              <a:srgbClr val="2A4171">
                <a:alpha val="7000"/>
              </a:srgbClr>
            </a:outerShdw>
          </a:effectLst>
        </p:spPr>
      </p:sp>
      <p:sp>
        <p:nvSpPr>
          <p:cNvPr id="15" name="s2_div_icon-box_blue-gradient_41_shape"/>
          <p:cNvSpPr/>
          <p:nvPr/>
        </p:nvSpPr>
        <p:spPr>
          <a:xfrm>
            <a:off x="777240" y="3611880"/>
            <a:ext cx="365760" cy="365760"/>
          </a:xfrm>
          <a:prstGeom prst="roundRect">
            <a:avLst>
              <a:gd name="adj" fmla="val 27083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2_span_dot_blue-dot_47_shape"/>
          <p:cNvSpPr/>
          <p:nvPr/>
        </p:nvSpPr>
        <p:spPr>
          <a:xfrm>
            <a:off x="777240" y="4191000"/>
            <a:ext cx="60960" cy="60960"/>
          </a:xfrm>
          <a:prstGeom prst="ellipse">
            <a:avLst>
              <a:gd name="adj" fmla="val 625000"/>
            </a:avLst>
          </a:prstGeom>
          <a:solidFill>
            <a:srgbClr val="2D6D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2_span_dot_blue-dot_51_shape"/>
          <p:cNvSpPr/>
          <p:nvPr/>
        </p:nvSpPr>
        <p:spPr>
          <a:xfrm>
            <a:off x="777240" y="4465320"/>
            <a:ext cx="60960" cy="60960"/>
          </a:xfrm>
          <a:prstGeom prst="ellipse">
            <a:avLst>
              <a:gd name="adj" fmla="val 625000"/>
            </a:avLst>
          </a:prstGeom>
          <a:solidFill>
            <a:srgbClr val="2D6D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2_span_dot_blue-dot_55_shape"/>
          <p:cNvSpPr/>
          <p:nvPr/>
        </p:nvSpPr>
        <p:spPr>
          <a:xfrm>
            <a:off x="777240" y="4739640"/>
            <a:ext cx="60960" cy="60960"/>
          </a:xfrm>
          <a:prstGeom prst="ellipse">
            <a:avLst>
              <a:gd name="adj" fmla="val 625000"/>
            </a:avLst>
          </a:prstGeom>
          <a:solidFill>
            <a:srgbClr val="2D6D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2_span_dot_blue-dot_59_shape"/>
          <p:cNvSpPr/>
          <p:nvPr/>
        </p:nvSpPr>
        <p:spPr>
          <a:xfrm>
            <a:off x="777240" y="5013960"/>
            <a:ext cx="60960" cy="60960"/>
          </a:xfrm>
          <a:prstGeom prst="ellipse">
            <a:avLst>
              <a:gd name="adj" fmla="val 625000"/>
            </a:avLst>
          </a:prstGeom>
          <a:solidFill>
            <a:srgbClr val="2D6D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2_div_detail-card_62_shape"/>
          <p:cNvSpPr/>
          <p:nvPr/>
        </p:nvSpPr>
        <p:spPr>
          <a:xfrm>
            <a:off x="4328160" y="3421380"/>
            <a:ext cx="3535680" cy="2674620"/>
          </a:xfrm>
          <a:prstGeom prst="roundRect">
            <a:avLst>
              <a:gd name="adj" fmla="val 5698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6EBF4"/>
            </a:solidFill>
            <a:prstDash val="solid"/>
          </a:ln>
          <a:effectLst>
            <a:outerShdw sx="100000" sy="100000" kx="0" ky="0" algn="bl" rotWithShape="0" blurRad="160020" dist="91440" dir="5400000">
              <a:srgbClr val="2A4171">
                <a:alpha val="7000"/>
              </a:srgbClr>
            </a:outerShdw>
          </a:effectLst>
        </p:spPr>
      </p:sp>
      <p:sp>
        <p:nvSpPr>
          <p:cNvPr id="21" name="s2_div_icon-box_teal-gradient_64_shape"/>
          <p:cNvSpPr/>
          <p:nvPr/>
        </p:nvSpPr>
        <p:spPr>
          <a:xfrm>
            <a:off x="4526280" y="3611880"/>
            <a:ext cx="365760" cy="365760"/>
          </a:xfrm>
          <a:prstGeom prst="roundRect">
            <a:avLst>
              <a:gd name="adj" fmla="val 27083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2_span_dot_teal-dot_71_shape"/>
          <p:cNvSpPr/>
          <p:nvPr/>
        </p:nvSpPr>
        <p:spPr>
          <a:xfrm>
            <a:off x="4526280" y="4191000"/>
            <a:ext cx="60960" cy="60960"/>
          </a:xfrm>
          <a:prstGeom prst="ellipse">
            <a:avLst>
              <a:gd name="adj" fmla="val 625000"/>
            </a:avLst>
          </a:prstGeom>
          <a:solidFill>
            <a:srgbClr val="079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2_span_dot_teal-dot_75_shape"/>
          <p:cNvSpPr/>
          <p:nvPr/>
        </p:nvSpPr>
        <p:spPr>
          <a:xfrm>
            <a:off x="4526280" y="4465320"/>
            <a:ext cx="60960" cy="60960"/>
          </a:xfrm>
          <a:prstGeom prst="ellipse">
            <a:avLst>
              <a:gd name="adj" fmla="val 625000"/>
            </a:avLst>
          </a:prstGeom>
          <a:solidFill>
            <a:srgbClr val="079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s2_span_dot_teal-dot_79_shape"/>
          <p:cNvSpPr/>
          <p:nvPr/>
        </p:nvSpPr>
        <p:spPr>
          <a:xfrm>
            <a:off x="4526280" y="4739640"/>
            <a:ext cx="60960" cy="60960"/>
          </a:xfrm>
          <a:prstGeom prst="ellipse">
            <a:avLst>
              <a:gd name="adj" fmla="val 625000"/>
            </a:avLst>
          </a:prstGeom>
          <a:solidFill>
            <a:srgbClr val="079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2_span_dot_teal-dot_83_shape"/>
          <p:cNvSpPr/>
          <p:nvPr/>
        </p:nvSpPr>
        <p:spPr>
          <a:xfrm>
            <a:off x="4526280" y="5013960"/>
            <a:ext cx="60960" cy="60960"/>
          </a:xfrm>
          <a:prstGeom prst="ellipse">
            <a:avLst>
              <a:gd name="adj" fmla="val 625000"/>
            </a:avLst>
          </a:prstGeom>
          <a:solidFill>
            <a:srgbClr val="079B9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s2_div_detail-card_86_shape"/>
          <p:cNvSpPr/>
          <p:nvPr/>
        </p:nvSpPr>
        <p:spPr>
          <a:xfrm>
            <a:off x="8077200" y="3421380"/>
            <a:ext cx="3535680" cy="2674620"/>
          </a:xfrm>
          <a:prstGeom prst="roundRect">
            <a:avLst>
              <a:gd name="adj" fmla="val 5698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6EBF4"/>
            </a:solidFill>
            <a:prstDash val="solid"/>
          </a:ln>
          <a:effectLst>
            <a:outerShdw sx="100000" sy="100000" kx="0" ky="0" algn="bl" rotWithShape="0" blurRad="160020" dist="91440" dir="5400000">
              <a:srgbClr val="2A4171">
                <a:alpha val="7000"/>
              </a:srgbClr>
            </a:outerShdw>
          </a:effectLst>
        </p:spPr>
      </p:sp>
      <p:sp>
        <p:nvSpPr>
          <p:cNvPr id="27" name="s2_div_icon-box_purple-gradient_88_shape"/>
          <p:cNvSpPr/>
          <p:nvPr/>
        </p:nvSpPr>
        <p:spPr>
          <a:xfrm>
            <a:off x="8275320" y="3611880"/>
            <a:ext cx="365760" cy="365760"/>
          </a:xfrm>
          <a:prstGeom prst="roundRect">
            <a:avLst>
              <a:gd name="adj" fmla="val 27083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s2_span_dot_purple-dot_95_shape"/>
          <p:cNvSpPr/>
          <p:nvPr/>
        </p:nvSpPr>
        <p:spPr>
          <a:xfrm>
            <a:off x="8275320" y="4191000"/>
            <a:ext cx="60960" cy="60960"/>
          </a:xfrm>
          <a:prstGeom prst="ellipse">
            <a:avLst>
              <a:gd name="adj" fmla="val 625000"/>
            </a:avLst>
          </a:prstGeom>
          <a:solidFill>
            <a:srgbClr val="7A3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2_span_dot_purple-dot_99_shape"/>
          <p:cNvSpPr/>
          <p:nvPr/>
        </p:nvSpPr>
        <p:spPr>
          <a:xfrm>
            <a:off x="8275320" y="4465320"/>
            <a:ext cx="60960" cy="60960"/>
          </a:xfrm>
          <a:prstGeom prst="ellipse">
            <a:avLst>
              <a:gd name="adj" fmla="val 625000"/>
            </a:avLst>
          </a:prstGeom>
          <a:solidFill>
            <a:srgbClr val="7A3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s2_span_dot_purple-dot_103_shape"/>
          <p:cNvSpPr/>
          <p:nvPr/>
        </p:nvSpPr>
        <p:spPr>
          <a:xfrm>
            <a:off x="8275320" y="4739640"/>
            <a:ext cx="60960" cy="60960"/>
          </a:xfrm>
          <a:prstGeom prst="ellipse">
            <a:avLst>
              <a:gd name="adj" fmla="val 625000"/>
            </a:avLst>
          </a:prstGeom>
          <a:solidFill>
            <a:srgbClr val="7A3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2_span_dot_purple-dot_107_shape"/>
          <p:cNvSpPr/>
          <p:nvPr/>
        </p:nvSpPr>
        <p:spPr>
          <a:xfrm>
            <a:off x="8275320" y="5013960"/>
            <a:ext cx="60960" cy="60960"/>
          </a:xfrm>
          <a:prstGeom prst="ellipse">
            <a:avLst>
              <a:gd name="adj" fmla="val 625000"/>
            </a:avLst>
          </a:prstGeom>
          <a:solidFill>
            <a:srgbClr val="7A32E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s2_div_footer-bar_110_shape"/>
          <p:cNvSpPr/>
          <p:nvPr/>
        </p:nvSpPr>
        <p:spPr>
          <a:xfrm>
            <a:off x="579120" y="6309360"/>
            <a:ext cx="11033760" cy="365760"/>
          </a:xfrm>
          <a:prstGeom prst="roundRect">
            <a:avLst>
              <a:gd name="adj" fmla="val 31250"/>
            </a:avLst>
          </a:prstGeom>
          <a:gradFill rotWithShape="1">
            <a:gsLst>
              <a:gs pos="0">
                <a:srgbClr val="F2F5FF"/>
              </a:gs>
              <a:gs pos="100000">
                <a:srgbClr val="FFF7FB"/>
              </a:gs>
            </a:gsLst>
            <a:lin ang="6300000" scaled="1"/>
          </a:gradFill>
          <a:ln w="7620">
            <a:solidFill>
              <a:srgbClr val="E2E7F5"/>
            </a:solidFill>
            <a:prstDash val="solid"/>
          </a:ln>
        </p:spPr>
      </p:sp>
      <p:pic>
        <p:nvPicPr>
          <p:cNvPr id="33" name="s2_svg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74520"/>
            <a:ext cx="213360" cy="213360"/>
          </a:xfrm>
          <a:prstGeom prst="rect">
            <a:avLst/>
          </a:prstGeom>
        </p:spPr>
      </p:pic>
      <p:pic>
        <p:nvPicPr>
          <p:cNvPr id="34" name="s2_svg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3310" y="1874520"/>
            <a:ext cx="213360" cy="213360"/>
          </a:xfrm>
          <a:prstGeom prst="rect">
            <a:avLst/>
          </a:prstGeom>
        </p:spPr>
      </p:pic>
      <p:pic>
        <p:nvPicPr>
          <p:cNvPr id="35" name="s2_svg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874520"/>
            <a:ext cx="213360" cy="213360"/>
          </a:xfrm>
          <a:prstGeom prst="rect">
            <a:avLst/>
          </a:prstGeom>
        </p:spPr>
      </p:pic>
      <p:pic>
        <p:nvPicPr>
          <p:cNvPr id="36" name="s2_svg_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4010" y="1874520"/>
            <a:ext cx="213360" cy="213360"/>
          </a:xfrm>
          <a:prstGeom prst="rect">
            <a:avLst/>
          </a:prstGeom>
        </p:spPr>
      </p:pic>
      <p:pic>
        <p:nvPicPr>
          <p:cNvPr id="37" name="s2_svg_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440" y="3688080"/>
            <a:ext cx="213360" cy="213360"/>
          </a:xfrm>
          <a:prstGeom prst="rect">
            <a:avLst/>
          </a:prstGeom>
        </p:spPr>
      </p:pic>
      <p:pic>
        <p:nvPicPr>
          <p:cNvPr id="38" name="s2_svg_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02480" y="3688080"/>
            <a:ext cx="213360" cy="213360"/>
          </a:xfrm>
          <a:prstGeom prst="rect">
            <a:avLst/>
          </a:prstGeom>
        </p:spPr>
      </p:pic>
      <p:pic>
        <p:nvPicPr>
          <p:cNvPr id="39" name="s2_svg_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1520" y="3688080"/>
            <a:ext cx="213360" cy="213360"/>
          </a:xfrm>
          <a:prstGeom prst="rect">
            <a:avLst/>
          </a:prstGeom>
        </p:spPr>
      </p:pic>
      <p:sp>
        <p:nvSpPr>
          <p:cNvPr id="40" name="s2_div_eyebrow_0_text"/>
          <p:cNvSpPr/>
          <p:nvPr/>
        </p:nvSpPr>
        <p:spPr>
          <a:xfrm>
            <a:off x="716280" y="327660"/>
            <a:ext cx="2221349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900" b="1" spc="48" kern="0" dirty="0">
                <a:solidFill>
                  <a:srgbClr val="6472F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CORE CAPABILITIES · 04 STAGES</a:t>
            </a:r>
            <a:endParaRPr lang="en-US" sz="900" dirty="0"/>
          </a:p>
        </p:txBody>
      </p:sp>
      <p:sp>
        <p:nvSpPr>
          <p:cNvPr id="41" name="s2_div_page-num_1_text"/>
          <p:cNvSpPr/>
          <p:nvPr/>
        </p:nvSpPr>
        <p:spPr>
          <a:xfrm>
            <a:off x="11209972" y="388620"/>
            <a:ext cx="562927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9AA7B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 / 04</a:t>
            </a:r>
            <a:endParaRPr lang="en-US" sz="900" dirty="0"/>
          </a:p>
        </p:txBody>
      </p:sp>
      <p:sp>
        <p:nvSpPr>
          <p:cNvPr id="42" name="s2_h1_slide-title_2_text"/>
          <p:cNvSpPr/>
          <p:nvPr/>
        </p:nvSpPr>
        <p:spPr>
          <a:xfrm>
            <a:off x="579120" y="784860"/>
            <a:ext cx="524256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700" b="1" spc="-60" kern="0" dirty="0">
                <a:solidFill>
                  <a:srgbClr val="1723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四个环节，把知识转成可讲的页面</a:t>
            </a:r>
            <a:endParaRPr lang="en-US" sz="2700" dirty="0"/>
          </a:p>
        </p:txBody>
      </p:sp>
      <p:sp>
        <p:nvSpPr>
          <p:cNvPr id="43" name="s2_p_slide-subtitle_3_text"/>
          <p:cNvSpPr/>
          <p:nvPr/>
        </p:nvSpPr>
        <p:spPr>
          <a:xfrm>
            <a:off x="579120" y="1264920"/>
            <a:ext cx="8574024" cy="246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080" dirty="0">
                <a:solidFill>
                  <a:srgbClr val="65779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从内容接入到可编辑交付，结构、视觉和技术转换在同一条链路中完成。</a:t>
            </a:r>
            <a:endParaRPr lang="en-US" sz="1080" dirty="0"/>
          </a:p>
        </p:txBody>
      </p:sp>
      <p:sp>
        <p:nvSpPr>
          <p:cNvPr id="44" name="s2_div_process-num_11_text"/>
          <p:cNvSpPr/>
          <p:nvPr/>
        </p:nvSpPr>
        <p:spPr>
          <a:xfrm>
            <a:off x="2712720" y="1828800"/>
            <a:ext cx="552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>
                    <a:alpha val="2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</a:t>
            </a:r>
            <a:endParaRPr lang="en-US" sz="2400" dirty="0"/>
          </a:p>
        </p:txBody>
      </p:sp>
      <p:sp>
        <p:nvSpPr>
          <p:cNvPr id="45" name="s2_div_process-name_12_text"/>
          <p:cNvSpPr/>
          <p:nvPr/>
        </p:nvSpPr>
        <p:spPr>
          <a:xfrm>
            <a:off x="746760" y="2278380"/>
            <a:ext cx="2510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内容接入</a:t>
            </a:r>
            <a:endParaRPr lang="en-US" sz="1440" dirty="0"/>
          </a:p>
        </p:txBody>
      </p:sp>
      <p:sp>
        <p:nvSpPr>
          <p:cNvPr id="46" name="s2_div_process-note_13_text"/>
          <p:cNvSpPr/>
          <p:nvPr/>
        </p:nvSpPr>
        <p:spPr>
          <a:xfrm>
            <a:off x="746760" y="2606040"/>
            <a:ext cx="246811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主题 / 提纲 / 笔记 / 长文档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
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从已有知识而不是空白页开始</a:t>
            </a:r>
            <a:endParaRPr lang="en-US" sz="960" dirty="0"/>
          </a:p>
        </p:txBody>
      </p:sp>
      <p:sp>
        <p:nvSpPr>
          <p:cNvPr id="47" name="s2_div_process-num_19_text"/>
          <p:cNvSpPr/>
          <p:nvPr/>
        </p:nvSpPr>
        <p:spPr>
          <a:xfrm>
            <a:off x="5513070" y="1828800"/>
            <a:ext cx="552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>
                    <a:alpha val="2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en-US" sz="2400" dirty="0"/>
          </a:p>
        </p:txBody>
      </p:sp>
      <p:sp>
        <p:nvSpPr>
          <p:cNvPr id="48" name="s2_div_process-name_20_text"/>
          <p:cNvSpPr/>
          <p:nvPr/>
        </p:nvSpPr>
        <p:spPr>
          <a:xfrm>
            <a:off x="3547110" y="2278380"/>
            <a:ext cx="2510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AI 组织</a:t>
            </a:r>
            <a:endParaRPr lang="en-US" sz="1440" dirty="0"/>
          </a:p>
        </p:txBody>
      </p:sp>
      <p:sp>
        <p:nvSpPr>
          <p:cNvPr id="49" name="s2_div_process-note_21_text"/>
          <p:cNvSpPr/>
          <p:nvPr/>
        </p:nvSpPr>
        <p:spPr>
          <a:xfrm>
            <a:off x="3547110" y="2606040"/>
            <a:ext cx="246811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梳理标题、重点、案例与结论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
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让每一页承担一个清晰任务</a:t>
            </a:r>
            <a:endParaRPr lang="en-US" sz="960" dirty="0"/>
          </a:p>
        </p:txBody>
      </p:sp>
      <p:sp>
        <p:nvSpPr>
          <p:cNvPr id="50" name="s2_div_process-num_27_text"/>
          <p:cNvSpPr/>
          <p:nvPr/>
        </p:nvSpPr>
        <p:spPr>
          <a:xfrm>
            <a:off x="8313420" y="1828800"/>
            <a:ext cx="552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>
                    <a:alpha val="2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en-US" sz="2400" dirty="0"/>
          </a:p>
        </p:txBody>
      </p:sp>
      <p:sp>
        <p:nvSpPr>
          <p:cNvPr id="51" name="s2_div_process-name_28_text"/>
          <p:cNvSpPr/>
          <p:nvPr/>
        </p:nvSpPr>
        <p:spPr>
          <a:xfrm>
            <a:off x="6347460" y="2278380"/>
            <a:ext cx="2510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视觉生成</a:t>
            </a:r>
            <a:endParaRPr lang="en-US" sz="1440" dirty="0"/>
          </a:p>
        </p:txBody>
      </p:sp>
      <p:sp>
        <p:nvSpPr>
          <p:cNvPr id="52" name="s2_div_process-note_29_text"/>
          <p:cNvSpPr/>
          <p:nvPr/>
        </p:nvSpPr>
        <p:spPr>
          <a:xfrm>
            <a:off x="6347460" y="2606040"/>
            <a:ext cx="246811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布局、配色、层级与留白统一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
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在浏览器中获得精确版式</a:t>
            </a:r>
            <a:endParaRPr lang="en-US" sz="960" dirty="0"/>
          </a:p>
        </p:txBody>
      </p:sp>
      <p:sp>
        <p:nvSpPr>
          <p:cNvPr id="53" name="s2_div_process-num_35_text"/>
          <p:cNvSpPr/>
          <p:nvPr/>
        </p:nvSpPr>
        <p:spPr>
          <a:xfrm>
            <a:off x="11113770" y="1828800"/>
            <a:ext cx="552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FFFFFF">
                    <a:alpha val="2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en-US" sz="2400" dirty="0"/>
          </a:p>
        </p:txBody>
      </p:sp>
      <p:sp>
        <p:nvSpPr>
          <p:cNvPr id="54" name="s2_div_process-name_36_text"/>
          <p:cNvSpPr/>
          <p:nvPr/>
        </p:nvSpPr>
        <p:spPr>
          <a:xfrm>
            <a:off x="9147810" y="2278380"/>
            <a:ext cx="25107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4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可编辑交付</a:t>
            </a:r>
            <a:endParaRPr lang="en-US" sz="1440" dirty="0"/>
          </a:p>
        </p:txBody>
      </p:sp>
      <p:sp>
        <p:nvSpPr>
          <p:cNvPr id="55" name="s2_div_process-note_37_text"/>
          <p:cNvSpPr/>
          <p:nvPr/>
        </p:nvSpPr>
        <p:spPr>
          <a:xfrm>
            <a:off x="9147810" y="2606040"/>
            <a:ext cx="2468118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文字、形状、渐变与图标独立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
</a:t>
            </a:r>
            <a:pPr algn="l" indent="0" marL="0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>
                    <a:alpha val="94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生成后可以继续修改和复用</a:t>
            </a:r>
            <a:endParaRPr lang="en-US" sz="960" dirty="0"/>
          </a:p>
        </p:txBody>
      </p:sp>
      <p:sp>
        <p:nvSpPr>
          <p:cNvPr id="56" name="s2_div_detail-title_44_text"/>
          <p:cNvSpPr/>
          <p:nvPr/>
        </p:nvSpPr>
        <p:spPr>
          <a:xfrm>
            <a:off x="1264920" y="3684984"/>
            <a:ext cx="1127760" cy="26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1723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结构化叙事</a:t>
            </a:r>
            <a:endParaRPr lang="en-US" sz="1440" dirty="0"/>
          </a:p>
        </p:txBody>
      </p:sp>
      <p:sp>
        <p:nvSpPr>
          <p:cNvPr id="57" name="s2_div_detail-copy_48_text"/>
          <p:cNvSpPr/>
          <p:nvPr/>
        </p:nvSpPr>
        <p:spPr>
          <a:xfrm>
            <a:off x="944880" y="413004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每页一个核心结论：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避免把资料直接堆进页面</a:t>
            </a:r>
            <a:endParaRPr lang="en-US" sz="948" dirty="0"/>
          </a:p>
        </p:txBody>
      </p:sp>
      <p:sp>
        <p:nvSpPr>
          <p:cNvPr id="58" name="s2_div_detail-copy_52_text"/>
          <p:cNvSpPr/>
          <p:nvPr/>
        </p:nvSpPr>
        <p:spPr>
          <a:xfrm>
            <a:off x="944880" y="440436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围绕理解路径展开：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上下页之间形成清晰递进</a:t>
            </a:r>
            <a:endParaRPr lang="en-US" sz="948" dirty="0"/>
          </a:p>
        </p:txBody>
      </p:sp>
      <p:sp>
        <p:nvSpPr>
          <p:cNvPr id="59" name="s2_div_detail-copy_56_text"/>
          <p:cNvSpPr/>
          <p:nvPr/>
        </p:nvSpPr>
        <p:spPr>
          <a:xfrm>
            <a:off x="944880" y="467868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重点、案例与总结分工：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内容层级更容易扫描</a:t>
            </a:r>
            <a:endParaRPr lang="en-US" sz="948" dirty="0"/>
          </a:p>
        </p:txBody>
      </p:sp>
      <p:sp>
        <p:nvSpPr>
          <p:cNvPr id="60" name="s2_div_detail-copy_60_text"/>
          <p:cNvSpPr/>
          <p:nvPr/>
        </p:nvSpPr>
        <p:spPr>
          <a:xfrm>
            <a:off x="944880" y="495300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长内容主动拆页：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保持信息密度与讲解节奏</a:t>
            </a:r>
            <a:endParaRPr lang="en-US" sz="948" dirty="0"/>
          </a:p>
        </p:txBody>
      </p:sp>
      <p:sp>
        <p:nvSpPr>
          <p:cNvPr id="61" name="s2_div_detail-title_68_text"/>
          <p:cNvSpPr/>
          <p:nvPr/>
        </p:nvSpPr>
        <p:spPr>
          <a:xfrm>
            <a:off x="5013960" y="3684984"/>
            <a:ext cx="944880" cy="26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1723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视觉系统</a:t>
            </a:r>
            <a:endParaRPr lang="en-US" sz="1440" dirty="0"/>
          </a:p>
        </p:txBody>
      </p:sp>
      <p:sp>
        <p:nvSpPr>
          <p:cNvPr id="62" name="s2_div_detail-copy_72_text"/>
          <p:cNvSpPr/>
          <p:nvPr/>
        </p:nvSpPr>
        <p:spPr>
          <a:xfrm>
            <a:off x="4693920" y="413004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16:9 标准画布：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左右边距、网格与对齐保持一致</a:t>
            </a:r>
            <a:endParaRPr lang="en-US" sz="948" dirty="0"/>
          </a:p>
        </p:txBody>
      </p:sp>
      <p:sp>
        <p:nvSpPr>
          <p:cNvPr id="63" name="s2_div_detail-copy_76_text"/>
          <p:cNvSpPr/>
          <p:nvPr/>
        </p:nvSpPr>
        <p:spPr>
          <a:xfrm>
            <a:off x="4693920" y="440436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统一视觉语言：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渐变、圆角、阴影和强调色可复用</a:t>
            </a:r>
            <a:endParaRPr lang="en-US" sz="948" dirty="0"/>
          </a:p>
        </p:txBody>
      </p:sp>
      <p:sp>
        <p:nvSpPr>
          <p:cNvPr id="64" name="s2_div_detail-copy_80_text"/>
          <p:cNvSpPr/>
          <p:nvPr/>
        </p:nvSpPr>
        <p:spPr>
          <a:xfrm>
            <a:off x="4693920" y="467868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浏览器坐标为准：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减少手工计算和位置漂移</a:t>
            </a:r>
            <a:endParaRPr lang="en-US" sz="948" dirty="0"/>
          </a:p>
        </p:txBody>
      </p:sp>
      <p:sp>
        <p:nvSpPr>
          <p:cNvPr id="65" name="s2_div_detail-copy_84_text"/>
          <p:cNvSpPr/>
          <p:nvPr/>
        </p:nvSpPr>
        <p:spPr>
          <a:xfrm>
            <a:off x="4693920" y="495300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中英文分别适配：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字体、换行与信息密度独立校正</a:t>
            </a:r>
            <a:endParaRPr lang="en-US" sz="948" dirty="0"/>
          </a:p>
        </p:txBody>
      </p:sp>
      <p:sp>
        <p:nvSpPr>
          <p:cNvPr id="66" name="s2_div_detail-title_92_text"/>
          <p:cNvSpPr/>
          <p:nvPr/>
        </p:nvSpPr>
        <p:spPr>
          <a:xfrm>
            <a:off x="8763000" y="3684984"/>
            <a:ext cx="1127760" cy="26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28"/>
              </a:lnSpc>
              <a:buNone/>
            </a:pPr>
            <a:r>
              <a:rPr lang="en-US" sz="1440" b="1" dirty="0">
                <a:solidFill>
                  <a:srgbClr val="1723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可编辑交付</a:t>
            </a:r>
            <a:endParaRPr lang="en-US" sz="1440" dirty="0"/>
          </a:p>
        </p:txBody>
      </p:sp>
      <p:sp>
        <p:nvSpPr>
          <p:cNvPr id="67" name="s2_div_detail-copy_96_text"/>
          <p:cNvSpPr/>
          <p:nvPr/>
        </p:nvSpPr>
        <p:spPr>
          <a:xfrm>
            <a:off x="8442960" y="413004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文本框保持独立：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标题、正文和强调文字可修改</a:t>
            </a:r>
            <a:endParaRPr lang="en-US" sz="948" dirty="0"/>
          </a:p>
        </p:txBody>
      </p:sp>
      <p:sp>
        <p:nvSpPr>
          <p:cNvPr id="68" name="s2_div_detail-copy_100_text"/>
          <p:cNvSpPr/>
          <p:nvPr/>
        </p:nvSpPr>
        <p:spPr>
          <a:xfrm>
            <a:off x="8442960" y="440436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原生形状与渐变：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卡片和背景可以重新排版</a:t>
            </a:r>
            <a:endParaRPr lang="en-US" sz="948" dirty="0"/>
          </a:p>
        </p:txBody>
      </p:sp>
      <p:sp>
        <p:nvSpPr>
          <p:cNvPr id="69" name="s2_div_detail-copy_104_text"/>
          <p:cNvSpPr/>
          <p:nvPr/>
        </p:nvSpPr>
        <p:spPr>
          <a:xfrm>
            <a:off x="8442960" y="467868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图标作为独立资源：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支持移动、缩放和替换</a:t>
            </a:r>
            <a:endParaRPr lang="en-US" sz="948" dirty="0"/>
          </a:p>
        </p:txBody>
      </p:sp>
      <p:sp>
        <p:nvSpPr>
          <p:cNvPr id="70" name="s2_div_detail-copy_108_text"/>
          <p:cNvSpPr/>
          <p:nvPr/>
        </p:nvSpPr>
        <p:spPr>
          <a:xfrm>
            <a:off x="8442960" y="4953000"/>
            <a:ext cx="3140354" cy="2129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1"/>
              </a:lnSpc>
              <a:buNone/>
            </a:pPr>
            <a:r>
              <a:rPr lang="en-US" sz="948" b="1" dirty="0">
                <a:solidFill>
                  <a:srgbClr val="1C293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保留 HTML 母版：</a:t>
            </a:r>
            <a:pPr algn="l" indent="0" marL="0">
              <a:lnSpc>
                <a:spcPts val="1441"/>
              </a:lnSpc>
              <a:buNone/>
            </a:pPr>
            <a:r>
              <a:rPr lang="en-US" sz="948" dirty="0">
                <a:solidFill>
                  <a:srgbClr val="506079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后续修订无需从头重做</a:t>
            </a:r>
            <a:endParaRPr lang="en-US" sz="948" dirty="0"/>
          </a:p>
        </p:txBody>
      </p:sp>
      <p:sp>
        <p:nvSpPr>
          <p:cNvPr id="71" name="s2_span_footer-brand_111_text"/>
          <p:cNvSpPr/>
          <p:nvPr/>
        </p:nvSpPr>
        <p:spPr>
          <a:xfrm>
            <a:off x="739140" y="6435090"/>
            <a:ext cx="794956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" kern="0" dirty="0">
                <a:solidFill>
                  <a:srgbClr val="3F37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LEARNDECK</a:t>
            </a:r>
            <a:endParaRPr lang="en-US" sz="780" dirty="0"/>
          </a:p>
        </p:txBody>
      </p:sp>
      <p:sp>
        <p:nvSpPr>
          <p:cNvPr id="72" name="s2_span_112_text"/>
          <p:cNvSpPr/>
          <p:nvPr/>
        </p:nvSpPr>
        <p:spPr>
          <a:xfrm>
            <a:off x="5331619" y="6435090"/>
            <a:ext cx="2020824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内容结构、视觉排版与可编辑转换一次完成</a:t>
            </a:r>
            <a:endParaRPr lang="en-US" sz="780" dirty="0"/>
          </a:p>
        </p:txBody>
      </p:sp>
      <p:sp>
        <p:nvSpPr>
          <p:cNvPr id="73" name="s2_span_113_text"/>
          <p:cNvSpPr/>
          <p:nvPr/>
        </p:nvSpPr>
        <p:spPr>
          <a:xfrm>
            <a:off x="11149846" y="6435090"/>
            <a:ext cx="441698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 / 04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3_radial_background_1"/>
          <p:cNvSpPr/>
          <p:nvPr/>
        </p:nvSpPr>
        <p:spPr>
          <a:xfrm>
            <a:off x="-3429000" y="-2209800"/>
            <a:ext cx="6858000" cy="4419600"/>
          </a:xfrm>
          <a:prstGeom prst="ellipse">
            <a:avLst/>
          </a:prstGeom>
          <a:solidFill>
            <a:srgbClr val="DCE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3_radial_background_2"/>
          <p:cNvSpPr/>
          <p:nvPr/>
        </p:nvSpPr>
        <p:spPr>
          <a:xfrm>
            <a:off x="9067800" y="4876800"/>
            <a:ext cx="6248400" cy="3962400"/>
          </a:xfrm>
          <a:prstGeom prst="ellipse">
            <a:avLst/>
          </a:prstGeom>
          <a:solidFill>
            <a:srgbClr val="F7E2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3_div_eyebrow_0_shape"/>
          <p:cNvSpPr/>
          <p:nvPr/>
        </p:nvSpPr>
        <p:spPr>
          <a:xfrm>
            <a:off x="579120" y="327660"/>
            <a:ext cx="3138130" cy="274320"/>
          </a:xfrm>
          <a:prstGeom prst="roundRect">
            <a:avLst>
              <a:gd name="adj" fmla="val 50000"/>
            </a:avLst>
          </a:prstGeom>
          <a:solidFill>
            <a:srgbClr val="F7F9FF">
              <a:alpha val="90000"/>
            </a:srgbClr>
          </a:solidFill>
          <a:ln w="7620">
            <a:solidFill>
              <a:srgbClr val="D9E0FB"/>
            </a:solidFill>
            <a:prstDash val="solid"/>
          </a:ln>
        </p:spPr>
      </p:sp>
      <p:sp>
        <p:nvSpPr>
          <p:cNvPr id="6" name="s3_div_workflow-card_5_shape"/>
          <p:cNvSpPr/>
          <p:nvPr/>
        </p:nvSpPr>
        <p:spPr>
          <a:xfrm>
            <a:off x="579120" y="1706880"/>
            <a:ext cx="263271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2E7F1"/>
            </a:solidFill>
            <a:prstDash val="solid"/>
          </a:ln>
          <a:effectLst>
            <a:outerShdw sx="100000" sy="100000" kx="0" ky="0" algn="bl" rotWithShape="0" blurRad="186690" dist="114300" dir="5400000">
              <a:srgbClr val="263A68">
                <a:alpha val="9000"/>
              </a:srgbClr>
            </a:outerShdw>
          </a:effectLst>
        </p:spPr>
      </p:sp>
      <p:sp>
        <p:nvSpPr>
          <p:cNvPr id="7" name="s3_div_workflow-band_blue-gradient_6_shape"/>
          <p:cNvSpPr/>
          <p:nvPr/>
        </p:nvSpPr>
        <p:spPr>
          <a:xfrm>
            <a:off x="586740" y="1714500"/>
            <a:ext cx="2617470" cy="701040"/>
          </a:xfrm>
          <a:prstGeom prst="rect">
            <a:avLst/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3_div_icon-box_workflow-icon_8_shape"/>
          <p:cNvSpPr/>
          <p:nvPr/>
        </p:nvSpPr>
        <p:spPr>
          <a:xfrm>
            <a:off x="2686050" y="186690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3_div_workflow-card_16_shape"/>
          <p:cNvSpPr/>
          <p:nvPr/>
        </p:nvSpPr>
        <p:spPr>
          <a:xfrm>
            <a:off x="3379470" y="1706880"/>
            <a:ext cx="263271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2E7F1"/>
            </a:solidFill>
            <a:prstDash val="solid"/>
          </a:ln>
          <a:effectLst>
            <a:outerShdw sx="100000" sy="100000" kx="0" ky="0" algn="bl" rotWithShape="0" blurRad="186690" dist="114300" dir="5400000">
              <a:srgbClr val="263A68">
                <a:alpha val="9000"/>
              </a:srgbClr>
            </a:outerShdw>
          </a:effectLst>
        </p:spPr>
      </p:sp>
      <p:sp>
        <p:nvSpPr>
          <p:cNvPr id="10" name="s3_div_workflow-band_teal-gradient_17_shape"/>
          <p:cNvSpPr/>
          <p:nvPr/>
        </p:nvSpPr>
        <p:spPr>
          <a:xfrm>
            <a:off x="3387090" y="1714500"/>
            <a:ext cx="2617470" cy="701040"/>
          </a:xfrm>
          <a:prstGeom prst="rect">
            <a:avLst/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3_div_icon-box_workflow-icon_19_shape"/>
          <p:cNvSpPr/>
          <p:nvPr/>
        </p:nvSpPr>
        <p:spPr>
          <a:xfrm>
            <a:off x="5486400" y="186690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3_div_workflow-card_26_shape"/>
          <p:cNvSpPr/>
          <p:nvPr/>
        </p:nvSpPr>
        <p:spPr>
          <a:xfrm>
            <a:off x="6179820" y="1706880"/>
            <a:ext cx="263271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2E7F1"/>
            </a:solidFill>
            <a:prstDash val="solid"/>
          </a:ln>
          <a:effectLst>
            <a:outerShdw sx="100000" sy="100000" kx="0" ky="0" algn="bl" rotWithShape="0" blurRad="186690" dist="114300" dir="5400000">
              <a:srgbClr val="263A68">
                <a:alpha val="9000"/>
              </a:srgbClr>
            </a:outerShdw>
          </a:effectLst>
        </p:spPr>
      </p:sp>
      <p:sp>
        <p:nvSpPr>
          <p:cNvPr id="13" name="s3_div_workflow-band_purple-gradient_27_shape"/>
          <p:cNvSpPr/>
          <p:nvPr/>
        </p:nvSpPr>
        <p:spPr>
          <a:xfrm>
            <a:off x="6187440" y="1714500"/>
            <a:ext cx="2617470" cy="701040"/>
          </a:xfrm>
          <a:prstGeom prst="rect">
            <a:avLst/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3_div_icon-box_workflow-icon_29_shape"/>
          <p:cNvSpPr/>
          <p:nvPr/>
        </p:nvSpPr>
        <p:spPr>
          <a:xfrm>
            <a:off x="8286750" y="186690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3_div_workflow-card_36_shape"/>
          <p:cNvSpPr/>
          <p:nvPr/>
        </p:nvSpPr>
        <p:spPr>
          <a:xfrm>
            <a:off x="8980170" y="1706880"/>
            <a:ext cx="2632710" cy="24384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7620">
            <a:solidFill>
              <a:srgbClr val="E2E7F1"/>
            </a:solidFill>
            <a:prstDash val="solid"/>
          </a:ln>
          <a:effectLst>
            <a:outerShdw sx="100000" sy="100000" kx="0" ky="0" algn="bl" rotWithShape="0" blurRad="186690" dist="114300" dir="5400000">
              <a:srgbClr val="263A68">
                <a:alpha val="9000"/>
              </a:srgbClr>
            </a:outerShdw>
          </a:effectLst>
        </p:spPr>
      </p:sp>
      <p:sp>
        <p:nvSpPr>
          <p:cNvPr id="16" name="s3_div_workflow-band_orange-gradient_37_shape"/>
          <p:cNvSpPr/>
          <p:nvPr/>
        </p:nvSpPr>
        <p:spPr>
          <a:xfrm>
            <a:off x="8987790" y="1714500"/>
            <a:ext cx="2617470" cy="701040"/>
          </a:xfrm>
          <a:prstGeom prst="rect">
            <a:avLst/>
          </a:prstGeom>
          <a:gradFill rotWithShape="1">
            <a:gsLst>
              <a:gs pos="0">
                <a:srgbClr val="FF8737"/>
              </a:gs>
              <a:gs pos="100000">
                <a:srgbClr val="F15B0E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3_div_icon-box_workflow-icon_39_shape"/>
          <p:cNvSpPr/>
          <p:nvPr/>
        </p:nvSpPr>
        <p:spPr>
          <a:xfrm>
            <a:off x="11087100" y="1866900"/>
            <a:ext cx="365760" cy="365760"/>
          </a:xfrm>
          <a:prstGeom prst="roundRect">
            <a:avLst>
              <a:gd name="adj" fmla="val 27083"/>
            </a:avLst>
          </a:prstGeom>
          <a:solidFill>
            <a:srgbClr val="FFFFFF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3_div_proof-lead_47_shape"/>
          <p:cNvSpPr/>
          <p:nvPr/>
        </p:nvSpPr>
        <p:spPr>
          <a:xfrm>
            <a:off x="579120" y="4381500"/>
            <a:ext cx="2943463" cy="1645920"/>
          </a:xfrm>
          <a:prstGeom prst="roundRect">
            <a:avLst>
              <a:gd name="adj" fmla="val 9259"/>
            </a:avLst>
          </a:prstGeom>
          <a:gradFill rotWithShape="1">
            <a:gsLst>
              <a:gs pos="0">
                <a:srgbClr val="1B2D50"/>
              </a:gs>
              <a:gs pos="100000">
                <a:srgbClr val="33477A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81356" dist="106680" dir="5400000">
              <a:srgbClr val="1D2D52">
                <a:alpha val="17000"/>
              </a:srgbClr>
            </a:outerShdw>
          </a:effectLst>
        </p:spPr>
      </p:sp>
      <p:sp>
        <p:nvSpPr>
          <p:cNvPr id="19" name="s3_div_proof-card_51_shape"/>
          <p:cNvSpPr/>
          <p:nvPr/>
        </p:nvSpPr>
        <p:spPr>
          <a:xfrm>
            <a:off x="3659743" y="4381500"/>
            <a:ext cx="2559606" cy="1645920"/>
          </a:xfrm>
          <a:prstGeom prst="roundRect">
            <a:avLst>
              <a:gd name="adj" fmla="val 9259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38684" dist="76200" dir="5400000">
              <a:srgbClr val="263A68">
                <a:alpha val="7000"/>
              </a:srgbClr>
            </a:outerShdw>
          </a:effectLst>
        </p:spPr>
      </p:sp>
      <p:sp>
        <p:nvSpPr>
          <p:cNvPr id="20" name="s3_div_icon-box_proof-icon_blue-gradient_52_shape"/>
          <p:cNvSpPr/>
          <p:nvPr/>
        </p:nvSpPr>
        <p:spPr>
          <a:xfrm>
            <a:off x="3842623" y="4572000"/>
            <a:ext cx="320040" cy="32004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3_div_proof-card_58_shape"/>
          <p:cNvSpPr/>
          <p:nvPr/>
        </p:nvSpPr>
        <p:spPr>
          <a:xfrm>
            <a:off x="6356509" y="4381500"/>
            <a:ext cx="2559606" cy="1645920"/>
          </a:xfrm>
          <a:prstGeom prst="roundRect">
            <a:avLst>
              <a:gd name="adj" fmla="val 9259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38684" dist="76200" dir="5400000">
              <a:srgbClr val="263A68">
                <a:alpha val="7000"/>
              </a:srgbClr>
            </a:outerShdw>
          </a:effectLst>
        </p:spPr>
      </p:sp>
      <p:sp>
        <p:nvSpPr>
          <p:cNvPr id="22" name="s3_div_icon-box_proof-icon_teal-gradient_59_shape"/>
          <p:cNvSpPr/>
          <p:nvPr/>
        </p:nvSpPr>
        <p:spPr>
          <a:xfrm>
            <a:off x="6539389" y="4572000"/>
            <a:ext cx="320040" cy="32004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3_div_proof-card_65_shape"/>
          <p:cNvSpPr/>
          <p:nvPr/>
        </p:nvSpPr>
        <p:spPr>
          <a:xfrm>
            <a:off x="9053274" y="4381500"/>
            <a:ext cx="2559487" cy="1645920"/>
          </a:xfrm>
          <a:prstGeom prst="roundRect">
            <a:avLst>
              <a:gd name="adj" fmla="val 9259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38684" dist="76200" dir="5400000">
              <a:srgbClr val="263A68">
                <a:alpha val="7000"/>
              </a:srgbClr>
            </a:outerShdw>
          </a:effectLst>
        </p:spPr>
      </p:sp>
      <p:sp>
        <p:nvSpPr>
          <p:cNvPr id="24" name="s3_div_icon-box_proof-icon_purple-gradient_66_shape"/>
          <p:cNvSpPr/>
          <p:nvPr/>
        </p:nvSpPr>
        <p:spPr>
          <a:xfrm>
            <a:off x="9236154" y="4572000"/>
            <a:ext cx="320040" cy="320040"/>
          </a:xfrm>
          <a:prstGeom prst="roundRect">
            <a:avLst>
              <a:gd name="adj" fmla="val 28571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3_div_footer-bar_71_shape"/>
          <p:cNvSpPr/>
          <p:nvPr/>
        </p:nvSpPr>
        <p:spPr>
          <a:xfrm>
            <a:off x="579120" y="6309360"/>
            <a:ext cx="11033760" cy="365760"/>
          </a:xfrm>
          <a:prstGeom prst="roundRect">
            <a:avLst>
              <a:gd name="adj" fmla="val 31250"/>
            </a:avLst>
          </a:prstGeom>
          <a:gradFill rotWithShape="1">
            <a:gsLst>
              <a:gs pos="0">
                <a:srgbClr val="F2F5FF"/>
              </a:gs>
              <a:gs pos="100000">
                <a:srgbClr val="FFF7FB"/>
              </a:gs>
            </a:gsLst>
            <a:lin ang="6300000" scaled="1"/>
          </a:gradFill>
          <a:ln w="7620">
            <a:solidFill>
              <a:srgbClr val="E2E7F5"/>
            </a:solidFill>
            <a:prstDash val="solid"/>
          </a:ln>
        </p:spPr>
      </p:sp>
      <p:pic>
        <p:nvPicPr>
          <p:cNvPr id="26" name="s3_svg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62250" y="1943100"/>
            <a:ext cx="213360" cy="213360"/>
          </a:xfrm>
          <a:prstGeom prst="rect">
            <a:avLst/>
          </a:prstGeom>
        </p:spPr>
      </p:pic>
      <p:pic>
        <p:nvPicPr>
          <p:cNvPr id="27" name="s3_svg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600" y="1943100"/>
            <a:ext cx="213360" cy="213360"/>
          </a:xfrm>
          <a:prstGeom prst="rect">
            <a:avLst/>
          </a:prstGeom>
        </p:spPr>
      </p:pic>
      <p:pic>
        <p:nvPicPr>
          <p:cNvPr id="28" name="s3_svg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2950" y="1943100"/>
            <a:ext cx="213360" cy="213360"/>
          </a:xfrm>
          <a:prstGeom prst="rect">
            <a:avLst/>
          </a:prstGeom>
        </p:spPr>
      </p:pic>
      <p:pic>
        <p:nvPicPr>
          <p:cNvPr id="29" name="s3_svg_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3300" y="1943100"/>
            <a:ext cx="213360" cy="213360"/>
          </a:xfrm>
          <a:prstGeom prst="rect">
            <a:avLst/>
          </a:prstGeom>
        </p:spPr>
      </p:pic>
      <p:pic>
        <p:nvPicPr>
          <p:cNvPr id="30" name="s3_svg_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963" y="4625340"/>
            <a:ext cx="213360" cy="213360"/>
          </a:xfrm>
          <a:prstGeom prst="rect">
            <a:avLst/>
          </a:prstGeom>
        </p:spPr>
      </p:pic>
      <p:pic>
        <p:nvPicPr>
          <p:cNvPr id="31" name="s3_svg_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2729" y="4625340"/>
            <a:ext cx="213360" cy="213360"/>
          </a:xfrm>
          <a:prstGeom prst="rect">
            <a:avLst/>
          </a:prstGeom>
        </p:spPr>
      </p:pic>
      <p:pic>
        <p:nvPicPr>
          <p:cNvPr id="32" name="s3_svg_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89494" y="4625340"/>
            <a:ext cx="213360" cy="213360"/>
          </a:xfrm>
          <a:prstGeom prst="rect">
            <a:avLst/>
          </a:prstGeom>
        </p:spPr>
      </p:pic>
      <p:sp>
        <p:nvSpPr>
          <p:cNvPr id="33" name="s3_div_eyebrow_0_text"/>
          <p:cNvSpPr/>
          <p:nvPr/>
        </p:nvSpPr>
        <p:spPr>
          <a:xfrm>
            <a:off x="716280" y="327660"/>
            <a:ext cx="3023830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900" b="1" spc="48" kern="0" dirty="0">
                <a:solidFill>
                  <a:srgbClr val="6472F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WORKFLOW · BROWSER-BASED CONVERSION</a:t>
            </a:r>
            <a:endParaRPr lang="en-US" sz="900" dirty="0"/>
          </a:p>
        </p:txBody>
      </p:sp>
      <p:sp>
        <p:nvSpPr>
          <p:cNvPr id="34" name="s3_div_page-num_1_text"/>
          <p:cNvSpPr/>
          <p:nvPr/>
        </p:nvSpPr>
        <p:spPr>
          <a:xfrm>
            <a:off x="11209972" y="388620"/>
            <a:ext cx="562927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9AA7B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 / 04</a:t>
            </a:r>
            <a:endParaRPr lang="en-US" sz="900" dirty="0"/>
          </a:p>
        </p:txBody>
      </p:sp>
      <p:sp>
        <p:nvSpPr>
          <p:cNvPr id="35" name="s3_h1_slide-title_2_text"/>
          <p:cNvSpPr/>
          <p:nvPr/>
        </p:nvSpPr>
        <p:spPr>
          <a:xfrm>
            <a:off x="579120" y="784860"/>
            <a:ext cx="5860137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700" b="1" spc="-60" kern="0" dirty="0">
                <a:solidFill>
                  <a:srgbClr val="1723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从输入到 PPTX，版式与对象逐层保真</a:t>
            </a:r>
            <a:endParaRPr lang="en-US" sz="2700" dirty="0"/>
          </a:p>
        </p:txBody>
      </p:sp>
      <p:sp>
        <p:nvSpPr>
          <p:cNvPr id="36" name="s3_p_slide-subtitle_3_text"/>
          <p:cNvSpPr/>
          <p:nvPr/>
        </p:nvSpPr>
        <p:spPr>
          <a:xfrm>
            <a:off x="579120" y="1264920"/>
            <a:ext cx="8574024" cy="246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080" dirty="0">
                <a:solidFill>
                  <a:srgbClr val="65779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LearnDeck 先在 HTML 中完成设计，再读取浏览器坐标，将文字、形状、渐变和图标重建为 PowerPoint 对象。</a:t>
            </a:r>
            <a:endParaRPr lang="en-US" sz="1080" dirty="0"/>
          </a:p>
        </p:txBody>
      </p:sp>
      <p:sp>
        <p:nvSpPr>
          <p:cNvPr id="37" name="s3_div_workflow-number_7_text"/>
          <p:cNvSpPr/>
          <p:nvPr/>
        </p:nvSpPr>
        <p:spPr>
          <a:xfrm>
            <a:off x="754380" y="1866900"/>
            <a:ext cx="249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FFFFFF">
                    <a:alpha val="4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01</a:t>
            </a:r>
            <a:endParaRPr lang="en-US" sz="2160" dirty="0"/>
          </a:p>
        </p:txBody>
      </p:sp>
      <p:sp>
        <p:nvSpPr>
          <p:cNvPr id="38" name="s3_div_workflow-name_14_text"/>
          <p:cNvSpPr/>
          <p:nvPr/>
        </p:nvSpPr>
        <p:spPr>
          <a:xfrm>
            <a:off x="754380" y="2606040"/>
            <a:ext cx="2495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输入内容</a:t>
            </a:r>
            <a:endParaRPr lang="en-US" sz="1500" dirty="0"/>
          </a:p>
        </p:txBody>
      </p:sp>
      <p:sp>
        <p:nvSpPr>
          <p:cNvPr id="39" name="s3_div_workflow-note_15_text"/>
          <p:cNvSpPr/>
          <p:nvPr/>
        </p:nvSpPr>
        <p:spPr>
          <a:xfrm>
            <a:off x="754380" y="2956560"/>
            <a:ext cx="2452878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62728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提供主题、提纲、笔记、课程资料或文章摘要，明确演示目标。</a:t>
            </a:r>
            <a:endParaRPr lang="en-US" sz="960" dirty="0"/>
          </a:p>
        </p:txBody>
      </p:sp>
      <p:sp>
        <p:nvSpPr>
          <p:cNvPr id="40" name="s3_div_workflow-number_18_text"/>
          <p:cNvSpPr/>
          <p:nvPr/>
        </p:nvSpPr>
        <p:spPr>
          <a:xfrm>
            <a:off x="3554730" y="1866900"/>
            <a:ext cx="249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FFFFFF">
                    <a:alpha val="4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02</a:t>
            </a:r>
            <a:endParaRPr lang="en-US" sz="2160" dirty="0"/>
          </a:p>
        </p:txBody>
      </p:sp>
      <p:sp>
        <p:nvSpPr>
          <p:cNvPr id="41" name="s3_div_workflow-name_24_text"/>
          <p:cNvSpPr/>
          <p:nvPr/>
        </p:nvSpPr>
        <p:spPr>
          <a:xfrm>
            <a:off x="3554730" y="2606040"/>
            <a:ext cx="2495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组织叙事</a:t>
            </a:r>
            <a:endParaRPr lang="en-US" sz="1500" dirty="0"/>
          </a:p>
        </p:txBody>
      </p:sp>
      <p:sp>
        <p:nvSpPr>
          <p:cNvPr id="42" name="s3_div_workflow-note_25_text"/>
          <p:cNvSpPr/>
          <p:nvPr/>
        </p:nvSpPr>
        <p:spPr>
          <a:xfrm>
            <a:off x="3554730" y="2956560"/>
            <a:ext cx="2452878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62728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把资料转成页面标题、核心观点、案例、步骤和结论。</a:t>
            </a:r>
            <a:endParaRPr lang="en-US" sz="960" dirty="0"/>
          </a:p>
        </p:txBody>
      </p:sp>
      <p:sp>
        <p:nvSpPr>
          <p:cNvPr id="43" name="s3_div_workflow-number_28_text"/>
          <p:cNvSpPr/>
          <p:nvPr/>
        </p:nvSpPr>
        <p:spPr>
          <a:xfrm>
            <a:off x="6355080" y="1866900"/>
            <a:ext cx="249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FFFFFF">
                    <a:alpha val="4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</a:t>
            </a:r>
            <a:endParaRPr lang="en-US" sz="2160" dirty="0"/>
          </a:p>
        </p:txBody>
      </p:sp>
      <p:sp>
        <p:nvSpPr>
          <p:cNvPr id="44" name="s3_div_workflow-name_34_text"/>
          <p:cNvSpPr/>
          <p:nvPr/>
        </p:nvSpPr>
        <p:spPr>
          <a:xfrm>
            <a:off x="6355080" y="2606040"/>
            <a:ext cx="2495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浏览器排版</a:t>
            </a:r>
            <a:endParaRPr lang="en-US" sz="1500" dirty="0"/>
          </a:p>
        </p:txBody>
      </p:sp>
      <p:sp>
        <p:nvSpPr>
          <p:cNvPr id="45" name="s3_div_workflow-note_35_text"/>
          <p:cNvSpPr/>
          <p:nvPr/>
        </p:nvSpPr>
        <p:spPr>
          <a:xfrm>
            <a:off x="6355080" y="2956560"/>
            <a:ext cx="2452878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62728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用 HTML 与 CSS 确定尺寸、对齐、留白、配色和视觉层级。</a:t>
            </a:r>
            <a:endParaRPr lang="en-US" sz="960" dirty="0"/>
          </a:p>
        </p:txBody>
      </p:sp>
      <p:sp>
        <p:nvSpPr>
          <p:cNvPr id="46" name="s3_div_workflow-number_38_text"/>
          <p:cNvSpPr/>
          <p:nvPr/>
        </p:nvSpPr>
        <p:spPr>
          <a:xfrm>
            <a:off x="9155430" y="1866900"/>
            <a:ext cx="24955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2160" b="1" dirty="0">
                <a:solidFill>
                  <a:srgbClr val="FFFFFF">
                    <a:alpha val="45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</a:t>
            </a:r>
            <a:endParaRPr lang="en-US" sz="2160" dirty="0"/>
          </a:p>
        </p:txBody>
      </p:sp>
      <p:sp>
        <p:nvSpPr>
          <p:cNvPr id="47" name="s3_div_workflow-name_44_text"/>
          <p:cNvSpPr/>
          <p:nvPr/>
        </p:nvSpPr>
        <p:spPr>
          <a:xfrm>
            <a:off x="9155430" y="2606040"/>
            <a:ext cx="24955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A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重建 PPTX</a:t>
            </a:r>
            <a:endParaRPr lang="en-US" sz="1500" dirty="0"/>
          </a:p>
        </p:txBody>
      </p:sp>
      <p:sp>
        <p:nvSpPr>
          <p:cNvPr id="48" name="s3_div_workflow-note_45_text"/>
          <p:cNvSpPr/>
          <p:nvPr/>
        </p:nvSpPr>
        <p:spPr>
          <a:xfrm>
            <a:off x="9155430" y="2956560"/>
            <a:ext cx="2452878" cy="408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88"/>
              </a:lnSpc>
              <a:buNone/>
            </a:pPr>
            <a:r>
              <a:rPr lang="en-US" sz="960" dirty="0">
                <a:solidFill>
                  <a:srgbClr val="62728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读取 DOM 坐标和样式，创建可继续编辑的 PowerPoint 对象。</a:t>
            </a:r>
            <a:endParaRPr lang="en-US" sz="960" dirty="0"/>
          </a:p>
        </p:txBody>
      </p:sp>
      <p:sp>
        <p:nvSpPr>
          <p:cNvPr id="49" name="s3_div_proof-kicker_48_text"/>
          <p:cNvSpPr/>
          <p:nvPr/>
        </p:nvSpPr>
        <p:spPr>
          <a:xfrm>
            <a:off x="784860" y="4572000"/>
            <a:ext cx="2670667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9FB7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CORE PRINCIPLE</a:t>
            </a:r>
            <a:endParaRPr lang="en-US" sz="780" dirty="0"/>
          </a:p>
        </p:txBody>
      </p:sp>
      <p:sp>
        <p:nvSpPr>
          <p:cNvPr id="50" name="s3_div_proof-lead-title_49_text"/>
          <p:cNvSpPr/>
          <p:nvPr/>
        </p:nvSpPr>
        <p:spPr>
          <a:xfrm>
            <a:off x="784860" y="4785360"/>
            <a:ext cx="2745343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浏览器坐标</a:t>
            </a:r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
</a:t>
            </a:r>
            <a:pPr algn="l" indent="0" marL="0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就是版式真相</a:t>
            </a:r>
            <a:endParaRPr lang="en-US" sz="1500" dirty="0"/>
          </a:p>
        </p:txBody>
      </p:sp>
      <p:sp>
        <p:nvSpPr>
          <p:cNvPr id="51" name="s3_div_proof-lead-note_50_text"/>
          <p:cNvSpPr/>
          <p:nvPr/>
        </p:nvSpPr>
        <p:spPr>
          <a:xfrm>
            <a:off x="784860" y="5360670"/>
            <a:ext cx="2681335" cy="346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840" dirty="0">
                <a:solidFill>
                  <a:srgbClr val="FFFFFF">
                    <a:alpha val="76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先让页面在浏览器中正确，再把相同的位置、尺寸和样式映射到 16:9 PPT 画布。</a:t>
            </a:r>
            <a:endParaRPr lang="en-US" sz="840" dirty="0"/>
          </a:p>
        </p:txBody>
      </p:sp>
      <p:sp>
        <p:nvSpPr>
          <p:cNvPr id="52" name="s3_div_proof-title_56_text"/>
          <p:cNvSpPr/>
          <p:nvPr/>
        </p:nvSpPr>
        <p:spPr>
          <a:xfrm>
            <a:off x="3842623" y="5013960"/>
            <a:ext cx="2396538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C4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独立文本对象</a:t>
            </a:r>
            <a:endParaRPr lang="en-US" sz="1140" dirty="0"/>
          </a:p>
        </p:txBody>
      </p:sp>
      <p:sp>
        <p:nvSpPr>
          <p:cNvPr id="53" name="s3_div_proof-note_57_text"/>
          <p:cNvSpPr/>
          <p:nvPr/>
        </p:nvSpPr>
        <p:spPr>
          <a:xfrm>
            <a:off x="3842623" y="5250180"/>
            <a:ext cx="2337864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69799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保留字号、粗细、颜色、换行与对齐方式。</a:t>
            </a:r>
            <a:endParaRPr lang="en-US" sz="810" dirty="0"/>
          </a:p>
        </p:txBody>
      </p:sp>
      <p:sp>
        <p:nvSpPr>
          <p:cNvPr id="54" name="s3_div_proof-title_63_text"/>
          <p:cNvSpPr/>
          <p:nvPr/>
        </p:nvSpPr>
        <p:spPr>
          <a:xfrm>
            <a:off x="6539389" y="5013960"/>
            <a:ext cx="2396538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C4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原生形状渐变</a:t>
            </a:r>
            <a:endParaRPr lang="en-US" sz="1140" dirty="0"/>
          </a:p>
        </p:txBody>
      </p:sp>
      <p:sp>
        <p:nvSpPr>
          <p:cNvPr id="55" name="s3_div_proof-note_64_text"/>
          <p:cNvSpPr/>
          <p:nvPr/>
        </p:nvSpPr>
        <p:spPr>
          <a:xfrm>
            <a:off x="6539389" y="5250180"/>
            <a:ext cx="2337864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69799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圆角卡片、边框、阴影和线性渐变均可继续调整。</a:t>
            </a:r>
            <a:endParaRPr lang="en-US" sz="810" dirty="0"/>
          </a:p>
        </p:txBody>
      </p:sp>
      <p:sp>
        <p:nvSpPr>
          <p:cNvPr id="56" name="s3_div_proof-title_69_text"/>
          <p:cNvSpPr/>
          <p:nvPr/>
        </p:nvSpPr>
        <p:spPr>
          <a:xfrm>
            <a:off x="9236154" y="5013960"/>
            <a:ext cx="2396419" cy="2038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D2C45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独立图标资源</a:t>
            </a:r>
            <a:endParaRPr lang="en-US" sz="1140" dirty="0"/>
          </a:p>
        </p:txBody>
      </p:sp>
      <p:sp>
        <p:nvSpPr>
          <p:cNvPr id="57" name="s3_div_proof-note_70_text"/>
          <p:cNvSpPr/>
          <p:nvPr/>
        </p:nvSpPr>
        <p:spPr>
          <a:xfrm>
            <a:off x="9236154" y="5250180"/>
            <a:ext cx="2337745" cy="33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810" dirty="0">
                <a:solidFill>
                  <a:srgbClr val="697990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内联 SVG 会保留源文件，并作为兼容图像对象写入 PPTX。</a:t>
            </a:r>
            <a:endParaRPr lang="en-US" sz="810" dirty="0"/>
          </a:p>
        </p:txBody>
      </p:sp>
      <p:sp>
        <p:nvSpPr>
          <p:cNvPr id="58" name="s3_span_footer-brand_72_text"/>
          <p:cNvSpPr/>
          <p:nvPr/>
        </p:nvSpPr>
        <p:spPr>
          <a:xfrm>
            <a:off x="739140" y="6435090"/>
            <a:ext cx="794956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" kern="0" dirty="0">
                <a:solidFill>
                  <a:srgbClr val="3F37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LEARNDECK</a:t>
            </a:r>
            <a:endParaRPr lang="en-US" sz="780" dirty="0"/>
          </a:p>
        </p:txBody>
      </p:sp>
      <p:sp>
        <p:nvSpPr>
          <p:cNvPr id="59" name="s3_span_73_text"/>
          <p:cNvSpPr/>
          <p:nvPr/>
        </p:nvSpPr>
        <p:spPr>
          <a:xfrm>
            <a:off x="5029676" y="6435090"/>
            <a:ext cx="2624590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Content → HTML → DOM geometry → Editable PPTX</a:t>
            </a:r>
            <a:endParaRPr lang="en-US" sz="780" dirty="0"/>
          </a:p>
        </p:txBody>
      </p:sp>
      <p:sp>
        <p:nvSpPr>
          <p:cNvPr id="60" name="s3_span_74_text"/>
          <p:cNvSpPr/>
          <p:nvPr/>
        </p:nvSpPr>
        <p:spPr>
          <a:xfrm>
            <a:off x="11149846" y="6435090"/>
            <a:ext cx="441698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03 / 04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_background_base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B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4_radial_background_1"/>
          <p:cNvSpPr/>
          <p:nvPr/>
        </p:nvSpPr>
        <p:spPr>
          <a:xfrm>
            <a:off x="-3429000" y="-2209800"/>
            <a:ext cx="6858000" cy="4419600"/>
          </a:xfrm>
          <a:prstGeom prst="ellipse">
            <a:avLst/>
          </a:prstGeom>
          <a:solidFill>
            <a:srgbClr val="DCE6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4_radial_background_2"/>
          <p:cNvSpPr/>
          <p:nvPr/>
        </p:nvSpPr>
        <p:spPr>
          <a:xfrm>
            <a:off x="9067800" y="4876800"/>
            <a:ext cx="6248400" cy="3962400"/>
          </a:xfrm>
          <a:prstGeom prst="ellipse">
            <a:avLst/>
          </a:prstGeom>
          <a:solidFill>
            <a:srgbClr val="F7E2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4_div_eyebrow_0_shape"/>
          <p:cNvSpPr/>
          <p:nvPr/>
        </p:nvSpPr>
        <p:spPr>
          <a:xfrm>
            <a:off x="579120" y="327660"/>
            <a:ext cx="2034421" cy="274320"/>
          </a:xfrm>
          <a:prstGeom prst="roundRect">
            <a:avLst>
              <a:gd name="adj" fmla="val 50000"/>
            </a:avLst>
          </a:prstGeom>
          <a:solidFill>
            <a:srgbClr val="F7F9FF">
              <a:alpha val="90000"/>
            </a:srgbClr>
          </a:solidFill>
          <a:ln w="7620">
            <a:solidFill>
              <a:srgbClr val="D9E0FB"/>
            </a:solidFill>
            <a:prstDash val="solid"/>
          </a:ln>
        </p:spPr>
      </p:sp>
      <p:sp>
        <p:nvSpPr>
          <p:cNvPr id="6" name="s4_div_scenario-card_5_shape"/>
          <p:cNvSpPr/>
          <p:nvPr/>
        </p:nvSpPr>
        <p:spPr>
          <a:xfrm>
            <a:off x="579120" y="1722120"/>
            <a:ext cx="3543300" cy="1638300"/>
          </a:xfrm>
          <a:prstGeom prst="roundRect">
            <a:avLst>
              <a:gd name="adj" fmla="val 8837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49352" dist="91440" dir="5400000">
              <a:srgbClr val="263A68">
                <a:alpha val="7000"/>
              </a:srgbClr>
            </a:outerShdw>
          </a:effectLst>
        </p:spPr>
      </p:sp>
      <p:sp>
        <p:nvSpPr>
          <p:cNvPr id="7" name="s4_div_icon-box_scenario-icon_blue-gradient_7_shape"/>
          <p:cNvSpPr/>
          <p:nvPr/>
        </p:nvSpPr>
        <p:spPr>
          <a:xfrm>
            <a:off x="762000" y="1897380"/>
            <a:ext cx="335280" cy="33528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3F84F8"/>
              </a:gs>
              <a:gs pos="100000">
                <a:srgbClr val="2D65E7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4_div_scenario-card_13_shape"/>
          <p:cNvSpPr/>
          <p:nvPr/>
        </p:nvSpPr>
        <p:spPr>
          <a:xfrm>
            <a:off x="4274820" y="1722120"/>
            <a:ext cx="3543300" cy="1638300"/>
          </a:xfrm>
          <a:prstGeom prst="roundRect">
            <a:avLst>
              <a:gd name="adj" fmla="val 8837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49352" dist="91440" dir="5400000">
              <a:srgbClr val="263A68">
                <a:alpha val="7000"/>
              </a:srgbClr>
            </a:outerShdw>
          </a:effectLst>
        </p:spPr>
      </p:sp>
      <p:sp>
        <p:nvSpPr>
          <p:cNvPr id="9" name="s4_div_icon-box_scenario-icon_teal-gradient_15_shape"/>
          <p:cNvSpPr/>
          <p:nvPr/>
        </p:nvSpPr>
        <p:spPr>
          <a:xfrm>
            <a:off x="4457700" y="1897380"/>
            <a:ext cx="335280" cy="33528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11B7C8"/>
              </a:gs>
              <a:gs pos="100000">
                <a:srgbClr val="07998F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4_div_scenario-card_21_shape"/>
          <p:cNvSpPr/>
          <p:nvPr/>
        </p:nvSpPr>
        <p:spPr>
          <a:xfrm>
            <a:off x="579120" y="3512820"/>
            <a:ext cx="3543300" cy="1638300"/>
          </a:xfrm>
          <a:prstGeom prst="roundRect">
            <a:avLst>
              <a:gd name="adj" fmla="val 8837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49352" dist="91440" dir="5400000">
              <a:srgbClr val="263A68">
                <a:alpha val="7000"/>
              </a:srgbClr>
            </a:outerShdw>
          </a:effectLst>
        </p:spPr>
      </p:sp>
      <p:sp>
        <p:nvSpPr>
          <p:cNvPr id="11" name="s4_div_icon-box_scenario-icon_purple-gradient_23_shape"/>
          <p:cNvSpPr/>
          <p:nvPr/>
        </p:nvSpPr>
        <p:spPr>
          <a:xfrm>
            <a:off x="762000" y="3688080"/>
            <a:ext cx="335280" cy="33528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8B50F3"/>
              </a:gs>
              <a:gs pos="100000">
                <a:srgbClr val="6F28E8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4_div_scenario-card_29_shape"/>
          <p:cNvSpPr/>
          <p:nvPr/>
        </p:nvSpPr>
        <p:spPr>
          <a:xfrm>
            <a:off x="4274820" y="3512820"/>
            <a:ext cx="3543300" cy="1638300"/>
          </a:xfrm>
          <a:prstGeom prst="roundRect">
            <a:avLst>
              <a:gd name="adj" fmla="val 8837"/>
            </a:avLst>
          </a:prstGeom>
          <a:solidFill>
            <a:srgbClr val="FFFFFF">
              <a:alpha val="97000"/>
            </a:srgbClr>
          </a:solidFill>
          <a:ln w="7620">
            <a:solidFill>
              <a:srgbClr val="E4E9F2"/>
            </a:solidFill>
            <a:prstDash val="solid"/>
          </a:ln>
          <a:effectLst>
            <a:outerShdw sx="100000" sy="100000" kx="0" ky="0" algn="bl" rotWithShape="0" blurRad="149352" dist="91440" dir="5400000">
              <a:srgbClr val="263A68">
                <a:alpha val="7000"/>
              </a:srgbClr>
            </a:outerShdw>
          </a:effectLst>
        </p:spPr>
      </p:sp>
      <p:sp>
        <p:nvSpPr>
          <p:cNvPr id="13" name="s4_div_icon-box_scenario-icon_orange-gradient_31_shape"/>
          <p:cNvSpPr/>
          <p:nvPr/>
        </p:nvSpPr>
        <p:spPr>
          <a:xfrm>
            <a:off x="4457700" y="3688080"/>
            <a:ext cx="335280" cy="335280"/>
          </a:xfrm>
          <a:prstGeom prst="roundRect">
            <a:avLst>
              <a:gd name="adj" fmla="val 27273"/>
            </a:avLst>
          </a:prstGeom>
          <a:gradFill rotWithShape="1">
            <a:gsLst>
              <a:gs pos="0">
                <a:srgbClr val="FF8737"/>
              </a:gs>
              <a:gs pos="100000">
                <a:srgbClr val="F15B0E"/>
              </a:gs>
            </a:gsLst>
            <a:lin ang="81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4_div_delivery-panel_37_shape"/>
          <p:cNvSpPr/>
          <p:nvPr/>
        </p:nvSpPr>
        <p:spPr>
          <a:xfrm>
            <a:off x="8031480" y="1722120"/>
            <a:ext cx="3581400" cy="3429000"/>
          </a:xfrm>
          <a:prstGeom prst="roundRect">
            <a:avLst>
              <a:gd name="adj" fmla="val 4889"/>
            </a:avLst>
          </a:prstGeom>
          <a:gradFill rotWithShape="1">
            <a:gsLst>
              <a:gs pos="0">
                <a:srgbClr val="25365E"/>
              </a:gs>
              <a:gs pos="100000">
                <a:srgbClr val="5331AD"/>
              </a:gs>
            </a:gsLst>
            <a:lin ang="8700000" scaled="1"/>
          </a:gra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234696" dist="152400" dir="5400000">
              <a:srgbClr val="2A2764">
                <a:alpha val="21000"/>
              </a:srgbClr>
            </a:outerShdw>
          </a:effectLst>
        </p:spPr>
      </p:sp>
      <p:sp>
        <p:nvSpPr>
          <p:cNvPr id="15" name="s4_span_check-mark_43_shape"/>
          <p:cNvSpPr/>
          <p:nvPr/>
        </p:nvSpPr>
        <p:spPr>
          <a:xfrm>
            <a:off x="8244840" y="3368040"/>
            <a:ext cx="213360" cy="213360"/>
          </a:xfrm>
          <a:prstGeom prst="roundRect">
            <a:avLst>
              <a:gd name="adj" fmla="val 3214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4_span_check-mark_48_shape"/>
          <p:cNvSpPr/>
          <p:nvPr/>
        </p:nvSpPr>
        <p:spPr>
          <a:xfrm>
            <a:off x="8244840" y="3695700"/>
            <a:ext cx="213360" cy="213360"/>
          </a:xfrm>
          <a:prstGeom prst="roundRect">
            <a:avLst>
              <a:gd name="adj" fmla="val 3214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4_span_check-mark_53_shape"/>
          <p:cNvSpPr/>
          <p:nvPr/>
        </p:nvSpPr>
        <p:spPr>
          <a:xfrm>
            <a:off x="8244840" y="4023360"/>
            <a:ext cx="213360" cy="213360"/>
          </a:xfrm>
          <a:prstGeom prst="roundRect">
            <a:avLst>
              <a:gd name="adj" fmla="val 3214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4_span_check-mark_58_shape"/>
          <p:cNvSpPr/>
          <p:nvPr/>
        </p:nvSpPr>
        <p:spPr>
          <a:xfrm>
            <a:off x="8244840" y="4351020"/>
            <a:ext cx="213360" cy="213360"/>
          </a:xfrm>
          <a:prstGeom prst="roundRect">
            <a:avLst>
              <a:gd name="adj" fmla="val 32143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4_span_63_shape"/>
          <p:cNvSpPr/>
          <p:nvPr/>
        </p:nvSpPr>
        <p:spPr>
          <a:xfrm>
            <a:off x="8244840" y="4876800"/>
            <a:ext cx="731520" cy="68580"/>
          </a:xfrm>
          <a:prstGeom prst="roundRect">
            <a:avLst>
              <a:gd name="adj" fmla="val 55556"/>
            </a:avLst>
          </a:prstGeom>
          <a:solidFill>
            <a:srgbClr val="3F84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4_span_64_shape"/>
          <p:cNvSpPr/>
          <p:nvPr/>
        </p:nvSpPr>
        <p:spPr>
          <a:xfrm>
            <a:off x="9052560" y="4876800"/>
            <a:ext cx="731520" cy="68580"/>
          </a:xfrm>
          <a:prstGeom prst="roundRect">
            <a:avLst>
              <a:gd name="adj" fmla="val 55556"/>
            </a:avLst>
          </a:prstGeom>
          <a:solidFill>
            <a:srgbClr val="11B7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4_span_65_shape"/>
          <p:cNvSpPr/>
          <p:nvPr/>
        </p:nvSpPr>
        <p:spPr>
          <a:xfrm>
            <a:off x="9860280" y="4876800"/>
            <a:ext cx="731520" cy="68580"/>
          </a:xfrm>
          <a:prstGeom prst="roundRect">
            <a:avLst>
              <a:gd name="adj" fmla="val 55556"/>
            </a:avLst>
          </a:prstGeom>
          <a:solidFill>
            <a:srgbClr val="8B50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4_span_66_shape"/>
          <p:cNvSpPr/>
          <p:nvPr/>
        </p:nvSpPr>
        <p:spPr>
          <a:xfrm>
            <a:off x="10668000" y="4876800"/>
            <a:ext cx="731520" cy="68580"/>
          </a:xfrm>
          <a:prstGeom prst="roundRect">
            <a:avLst>
              <a:gd name="adj" fmla="val 55556"/>
            </a:avLst>
          </a:prstGeom>
          <a:solidFill>
            <a:srgbClr val="FF873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4_div_scenario-summary_67_shape"/>
          <p:cNvSpPr/>
          <p:nvPr/>
        </p:nvSpPr>
        <p:spPr>
          <a:xfrm>
            <a:off x="579120" y="5257800"/>
            <a:ext cx="11033760" cy="792480"/>
          </a:xfrm>
          <a:prstGeom prst="roundRect">
            <a:avLst>
              <a:gd name="adj" fmla="val 18269"/>
            </a:avLst>
          </a:prstGeom>
          <a:gradFill rotWithShape="1">
            <a:gsLst>
              <a:gs pos="0">
                <a:srgbClr val="F2F5FF"/>
              </a:gs>
              <a:gs pos="100000">
                <a:srgbClr val="FFF6FB"/>
              </a:gs>
            </a:gsLst>
            <a:lin ang="6300000" scaled="1"/>
          </a:gradFill>
          <a:ln w="7620">
            <a:solidFill>
              <a:srgbClr val="E1E7F4"/>
            </a:solidFill>
            <a:prstDash val="solid"/>
          </a:ln>
        </p:spPr>
      </p:sp>
      <p:sp>
        <p:nvSpPr>
          <p:cNvPr id="24" name="s4_div_footer-bar_71_shape"/>
          <p:cNvSpPr/>
          <p:nvPr/>
        </p:nvSpPr>
        <p:spPr>
          <a:xfrm>
            <a:off x="579120" y="6309360"/>
            <a:ext cx="11033760" cy="365760"/>
          </a:xfrm>
          <a:prstGeom prst="roundRect">
            <a:avLst>
              <a:gd name="adj" fmla="val 31250"/>
            </a:avLst>
          </a:prstGeom>
          <a:gradFill rotWithShape="1">
            <a:gsLst>
              <a:gs pos="0">
                <a:srgbClr val="F2F5FF"/>
              </a:gs>
              <a:gs pos="100000">
                <a:srgbClr val="FFF7FB"/>
              </a:gs>
            </a:gsLst>
            <a:lin ang="6300000" scaled="1"/>
          </a:gradFill>
          <a:ln w="7620">
            <a:solidFill>
              <a:srgbClr val="E2E7F5"/>
            </a:solidFill>
            <a:prstDash val="solid"/>
          </a:ln>
        </p:spPr>
      </p:sp>
      <p:pic>
        <p:nvPicPr>
          <p:cNvPr id="25" name="s4_svg_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58340"/>
            <a:ext cx="213360" cy="213360"/>
          </a:xfrm>
          <a:prstGeom prst="rect">
            <a:avLst/>
          </a:prstGeom>
        </p:spPr>
      </p:pic>
      <p:pic>
        <p:nvPicPr>
          <p:cNvPr id="26" name="s4_svg_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8660" y="1958340"/>
            <a:ext cx="213360" cy="213360"/>
          </a:xfrm>
          <a:prstGeom prst="rect">
            <a:avLst/>
          </a:prstGeom>
        </p:spPr>
      </p:pic>
      <p:pic>
        <p:nvPicPr>
          <p:cNvPr id="27" name="s4_svg_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49040"/>
            <a:ext cx="213360" cy="213360"/>
          </a:xfrm>
          <a:prstGeom prst="rect">
            <a:avLst/>
          </a:prstGeom>
        </p:spPr>
      </p:pic>
      <p:pic>
        <p:nvPicPr>
          <p:cNvPr id="28" name="s4_svg_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8660" y="3749040"/>
            <a:ext cx="213360" cy="213360"/>
          </a:xfrm>
          <a:prstGeom prst="rect">
            <a:avLst/>
          </a:prstGeom>
        </p:spPr>
      </p:pic>
      <p:pic>
        <p:nvPicPr>
          <p:cNvPr id="29" name="s4_svg_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0560" y="3413760"/>
            <a:ext cx="121920" cy="121920"/>
          </a:xfrm>
          <a:prstGeom prst="rect">
            <a:avLst/>
          </a:prstGeom>
        </p:spPr>
      </p:pic>
      <p:pic>
        <p:nvPicPr>
          <p:cNvPr id="30" name="s4_svg_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0560" y="3741420"/>
            <a:ext cx="121920" cy="121920"/>
          </a:xfrm>
          <a:prstGeom prst="rect">
            <a:avLst/>
          </a:prstGeom>
        </p:spPr>
      </p:pic>
      <p:pic>
        <p:nvPicPr>
          <p:cNvPr id="31" name="s4_svg_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0560" y="4069080"/>
            <a:ext cx="121920" cy="121920"/>
          </a:xfrm>
          <a:prstGeom prst="rect">
            <a:avLst/>
          </a:prstGeom>
        </p:spPr>
      </p:pic>
      <p:pic>
        <p:nvPicPr>
          <p:cNvPr id="32" name="s4_svg_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0560" y="4396740"/>
            <a:ext cx="121920" cy="121920"/>
          </a:xfrm>
          <a:prstGeom prst="rect">
            <a:avLst/>
          </a:prstGeom>
        </p:spPr>
      </p:pic>
      <p:sp>
        <p:nvSpPr>
          <p:cNvPr id="33" name="s4_div_eyebrow_0_text"/>
          <p:cNvSpPr/>
          <p:nvPr/>
        </p:nvSpPr>
        <p:spPr>
          <a:xfrm>
            <a:off x="716280" y="327660"/>
            <a:ext cx="1920121" cy="302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900" b="1" spc="48" kern="0" dirty="0">
                <a:solidFill>
                  <a:srgbClr val="6472F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REUSE · TEMPLATE SYSTEM</a:t>
            </a:r>
            <a:endParaRPr lang="en-US" sz="900" dirty="0"/>
          </a:p>
        </p:txBody>
      </p:sp>
      <p:sp>
        <p:nvSpPr>
          <p:cNvPr id="34" name="s4_div_page-num_1_text"/>
          <p:cNvSpPr/>
          <p:nvPr/>
        </p:nvSpPr>
        <p:spPr>
          <a:xfrm>
            <a:off x="11209972" y="388620"/>
            <a:ext cx="562927" cy="158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9AA7B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 / 04</a:t>
            </a:r>
            <a:endParaRPr lang="en-US" sz="900" dirty="0"/>
          </a:p>
        </p:txBody>
      </p:sp>
      <p:sp>
        <p:nvSpPr>
          <p:cNvPr id="35" name="s4_h1_slide-title_2_text"/>
          <p:cNvSpPr/>
          <p:nvPr/>
        </p:nvSpPr>
        <p:spPr>
          <a:xfrm>
            <a:off x="579120" y="784860"/>
            <a:ext cx="5242560" cy="469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700" b="1" spc="-60" kern="0" dirty="0">
                <a:solidFill>
                  <a:srgbClr val="17233B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一套模板，覆盖多种知识表达场景</a:t>
            </a:r>
            <a:endParaRPr lang="en-US" sz="2700" dirty="0"/>
          </a:p>
        </p:txBody>
      </p:sp>
      <p:sp>
        <p:nvSpPr>
          <p:cNvPr id="36" name="s4_p_slide-subtitle_3_text"/>
          <p:cNvSpPr/>
          <p:nvPr/>
        </p:nvSpPr>
        <p:spPr>
          <a:xfrm>
            <a:off x="579120" y="1264920"/>
            <a:ext cx="8574024" cy="246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080" dirty="0">
                <a:solidFill>
                  <a:srgbClr val="657792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保持视觉系统稳定，只替换内容与素材，就能持续生成适合不同受众的演示稿。</a:t>
            </a:r>
            <a:endParaRPr lang="en-US" sz="1080" dirty="0"/>
          </a:p>
        </p:txBody>
      </p:sp>
      <p:sp>
        <p:nvSpPr>
          <p:cNvPr id="37" name="s4_div_scenario-title_11_text"/>
          <p:cNvSpPr/>
          <p:nvPr/>
        </p:nvSpPr>
        <p:spPr>
          <a:xfrm>
            <a:off x="1203960" y="1965960"/>
            <a:ext cx="10515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B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课程与课堂</a:t>
            </a:r>
            <a:endParaRPr lang="en-US" sz="1320" dirty="0"/>
          </a:p>
        </p:txBody>
      </p:sp>
      <p:sp>
        <p:nvSpPr>
          <p:cNvPr id="38" name="s4_div_scenario-note_12_text"/>
          <p:cNvSpPr/>
          <p:nvPr/>
        </p:nvSpPr>
        <p:spPr>
          <a:xfrm>
            <a:off x="762000" y="2369820"/>
            <a:ext cx="333756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0718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把课程主题、章节提纲和教学资料整理成结构清晰、适合讲解的正式课件。</a:t>
            </a:r>
            <a:endParaRPr lang="en-US" sz="900" dirty="0"/>
          </a:p>
        </p:txBody>
      </p:sp>
      <p:sp>
        <p:nvSpPr>
          <p:cNvPr id="39" name="s4_div_scenario-title_19_text"/>
          <p:cNvSpPr/>
          <p:nvPr/>
        </p:nvSpPr>
        <p:spPr>
          <a:xfrm>
            <a:off x="4899660" y="1965960"/>
            <a:ext cx="8839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B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企业培训</a:t>
            </a:r>
            <a:endParaRPr lang="en-US" sz="1320" dirty="0"/>
          </a:p>
        </p:txBody>
      </p:sp>
      <p:sp>
        <p:nvSpPr>
          <p:cNvPr id="40" name="s4_div_scenario-note_20_text"/>
          <p:cNvSpPr/>
          <p:nvPr/>
        </p:nvSpPr>
        <p:spPr>
          <a:xfrm>
            <a:off x="4457700" y="2369820"/>
            <a:ext cx="333756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0718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将流程、方法论、产品知识和内部规范沉淀成统一风格的培训演示稿。</a:t>
            </a:r>
            <a:endParaRPr lang="en-US" sz="900" dirty="0"/>
          </a:p>
        </p:txBody>
      </p:sp>
      <p:sp>
        <p:nvSpPr>
          <p:cNvPr id="41" name="s4_div_scenario-title_27_text"/>
          <p:cNvSpPr/>
          <p:nvPr/>
        </p:nvSpPr>
        <p:spPr>
          <a:xfrm>
            <a:off x="1203960" y="3756660"/>
            <a:ext cx="105156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B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研究与复盘</a:t>
            </a:r>
            <a:endParaRPr lang="en-US" sz="1320" dirty="0"/>
          </a:p>
        </p:txBody>
      </p:sp>
      <p:sp>
        <p:nvSpPr>
          <p:cNvPr id="42" name="s4_div_scenario-note_28_text"/>
          <p:cNvSpPr/>
          <p:nvPr/>
        </p:nvSpPr>
        <p:spPr>
          <a:xfrm>
            <a:off x="762000" y="4160520"/>
            <a:ext cx="333756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0718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把文献摘要、项目复盘、学习笔记和研究结论转成可分享的汇报材料。</a:t>
            </a:r>
            <a:endParaRPr lang="en-US" sz="900" dirty="0"/>
          </a:p>
        </p:txBody>
      </p:sp>
      <p:sp>
        <p:nvSpPr>
          <p:cNvPr id="43" name="s4_div_scenario-title_35_text"/>
          <p:cNvSpPr/>
          <p:nvPr/>
        </p:nvSpPr>
        <p:spPr>
          <a:xfrm>
            <a:off x="4899660" y="3756660"/>
            <a:ext cx="138684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1B2941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产品与业务知识</a:t>
            </a:r>
            <a:endParaRPr lang="en-US" sz="1320" dirty="0"/>
          </a:p>
        </p:txBody>
      </p:sp>
      <p:sp>
        <p:nvSpPr>
          <p:cNvPr id="44" name="s4_div_scenario-note_36_text"/>
          <p:cNvSpPr/>
          <p:nvPr/>
        </p:nvSpPr>
        <p:spPr>
          <a:xfrm>
            <a:off x="4457700" y="4160520"/>
            <a:ext cx="333756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0718C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将复杂功能、业务流程和应用场景转成更适合销售、运营或客户理解的页面。</a:t>
            </a:r>
            <a:endParaRPr lang="en-US" sz="900" dirty="0"/>
          </a:p>
        </p:txBody>
      </p:sp>
      <p:sp>
        <p:nvSpPr>
          <p:cNvPr id="45" name="s4_div_delivery-panel-kicker_38_text"/>
          <p:cNvSpPr/>
          <p:nvPr/>
        </p:nvSpPr>
        <p:spPr>
          <a:xfrm>
            <a:off x="8244840" y="1935480"/>
            <a:ext cx="3293364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60" kern="0" dirty="0">
                <a:solidFill>
                  <a:srgbClr val="B7C7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DELIVERY STANDARD</a:t>
            </a:r>
            <a:endParaRPr lang="en-US" sz="780" dirty="0"/>
          </a:p>
        </p:txBody>
      </p:sp>
      <p:sp>
        <p:nvSpPr>
          <p:cNvPr id="46" name="s4_div_delivery-panel-title_39_text"/>
          <p:cNvSpPr/>
          <p:nvPr/>
        </p:nvSpPr>
        <p:spPr>
          <a:xfrm>
            <a:off x="8244840" y="2156460"/>
            <a:ext cx="3368040" cy="607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74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交付的不只是图片</a:t>
            </a:r>
            <a:pPr algn="l" indent="0" marL="0">
              <a:lnSpc>
                <a:spcPts val="2175"/>
              </a:lnSpc>
              <a:buNone/>
            </a:pPr>
            <a:r>
              <a:rPr lang="en-US" sz="174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
</a:t>
            </a:r>
            <a:pPr algn="l" indent="0" marL="0">
              <a:lnSpc>
                <a:spcPts val="2175"/>
              </a:lnSpc>
              <a:buNone/>
            </a:pPr>
            <a:r>
              <a:rPr lang="en-US" sz="174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而是一套可继续工作的文件</a:t>
            </a:r>
            <a:endParaRPr lang="en-US" sz="1740" dirty="0"/>
          </a:p>
        </p:txBody>
      </p:sp>
      <p:sp>
        <p:nvSpPr>
          <p:cNvPr id="47" name="s4_div_delivery-panel-note_40_text"/>
          <p:cNvSpPr/>
          <p:nvPr/>
        </p:nvSpPr>
        <p:spPr>
          <a:xfrm>
            <a:off x="8244840" y="2823210"/>
            <a:ext cx="3314700" cy="382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FFFFFF">
                    <a:alpha val="76000"/>
                  </a:srgbClr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保持高质量视觉的同时，为后续改字、换色、扩页和品牌适配保留空间。</a:t>
            </a:r>
            <a:endParaRPr lang="en-US" sz="900" dirty="0"/>
          </a:p>
        </p:txBody>
      </p:sp>
      <p:sp>
        <p:nvSpPr>
          <p:cNvPr id="48" name="s4_div_check-text_46_text"/>
          <p:cNvSpPr/>
          <p:nvPr/>
        </p:nvSpPr>
        <p:spPr>
          <a:xfrm>
            <a:off x="8549640" y="3392448"/>
            <a:ext cx="3020568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文字与强调内容可直接修改</a:t>
            </a:r>
            <a:endParaRPr lang="en-US" sz="960" dirty="0"/>
          </a:p>
        </p:txBody>
      </p:sp>
      <p:sp>
        <p:nvSpPr>
          <p:cNvPr id="49" name="s4_div_check-text_51_text"/>
          <p:cNvSpPr/>
          <p:nvPr/>
        </p:nvSpPr>
        <p:spPr>
          <a:xfrm>
            <a:off x="8549640" y="3720108"/>
            <a:ext cx="3020568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卡片、色块和渐变保持原生</a:t>
            </a:r>
            <a:endParaRPr lang="en-US" sz="960" dirty="0"/>
          </a:p>
        </p:txBody>
      </p:sp>
      <p:sp>
        <p:nvSpPr>
          <p:cNvPr id="50" name="s4_div_check-text_56_text"/>
          <p:cNvSpPr/>
          <p:nvPr/>
        </p:nvSpPr>
        <p:spPr>
          <a:xfrm>
            <a:off x="8549640" y="4047768"/>
            <a:ext cx="3020568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图标和视觉资源独立放置</a:t>
            </a:r>
            <a:endParaRPr lang="en-US" sz="960" dirty="0"/>
          </a:p>
        </p:txBody>
      </p:sp>
      <p:sp>
        <p:nvSpPr>
          <p:cNvPr id="51" name="s4_div_check-text_61_text"/>
          <p:cNvSpPr/>
          <p:nvPr/>
        </p:nvSpPr>
        <p:spPr>
          <a:xfrm>
            <a:off x="8549640" y="4375428"/>
            <a:ext cx="3020568" cy="19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96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保留 HTML 母版支持快速修订</a:t>
            </a:r>
            <a:endParaRPr lang="en-US" sz="960" dirty="0"/>
          </a:p>
        </p:txBody>
      </p:sp>
      <p:sp>
        <p:nvSpPr>
          <p:cNvPr id="52" name="s4_div_summary-brand_68_text"/>
          <p:cNvSpPr/>
          <p:nvPr/>
        </p:nvSpPr>
        <p:spPr>
          <a:xfrm>
            <a:off x="586740" y="5543550"/>
            <a:ext cx="2118360" cy="268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37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LEARNDECK</a:t>
            </a:r>
            <a:endParaRPr lang="en-US" sz="1500" dirty="0"/>
          </a:p>
        </p:txBody>
      </p:sp>
      <p:sp>
        <p:nvSpPr>
          <p:cNvPr id="53" name="s4_div_summary-copy_69_text"/>
          <p:cNvSpPr/>
          <p:nvPr/>
        </p:nvSpPr>
        <p:spPr>
          <a:xfrm>
            <a:off x="2705100" y="5566053"/>
            <a:ext cx="6740652" cy="2026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840" dirty="0">
                <a:solidFill>
                  <a:srgbClr val="53637D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从内容结构到视觉表达，再到可编辑 PPTX 交付，LearnDeck 让高质量演示稿从一次性作品变成可以持续复用的知识资产。</a:t>
            </a:r>
            <a:endParaRPr lang="en-US" sz="840" dirty="0"/>
          </a:p>
        </p:txBody>
      </p:sp>
      <p:sp>
        <p:nvSpPr>
          <p:cNvPr id="54" name="s4_div_summary-tag_70_text"/>
          <p:cNvSpPr/>
          <p:nvPr/>
        </p:nvSpPr>
        <p:spPr>
          <a:xfrm>
            <a:off x="9509760" y="5585460"/>
            <a:ext cx="20833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60" b="1" dirty="0">
                <a:solidFill>
                  <a:srgbClr val="2369B3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CLEAR · POLISHED · EDITABLE</a:t>
            </a:r>
            <a:endParaRPr lang="en-US" sz="960" dirty="0"/>
          </a:p>
        </p:txBody>
      </p:sp>
      <p:sp>
        <p:nvSpPr>
          <p:cNvPr id="55" name="s4_span_footer-brand_72_text"/>
          <p:cNvSpPr/>
          <p:nvPr/>
        </p:nvSpPr>
        <p:spPr>
          <a:xfrm>
            <a:off x="739140" y="6435090"/>
            <a:ext cx="794956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spc="30" kern="0" dirty="0">
                <a:solidFill>
                  <a:srgbClr val="3F37D8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LEARNDECK</a:t>
            </a:r>
            <a:endParaRPr lang="en-US" sz="780" dirty="0"/>
          </a:p>
        </p:txBody>
      </p:sp>
      <p:sp>
        <p:nvSpPr>
          <p:cNvPr id="56" name="s4_span_73_text"/>
          <p:cNvSpPr/>
          <p:nvPr/>
        </p:nvSpPr>
        <p:spPr>
          <a:xfrm>
            <a:off x="5214699" y="6435090"/>
            <a:ext cx="2254544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Build once, revise freely, reuse continuously.</a:t>
            </a:r>
            <a:endParaRPr lang="en-US" sz="780" dirty="0"/>
          </a:p>
        </p:txBody>
      </p:sp>
      <p:sp>
        <p:nvSpPr>
          <p:cNvPr id="57" name="s4_span_74_text"/>
          <p:cNvSpPr/>
          <p:nvPr/>
        </p:nvSpPr>
        <p:spPr>
          <a:xfrm>
            <a:off x="11149846" y="6435090"/>
            <a:ext cx="441698" cy="1390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65748F"/>
                </a:solidFill>
                <a:latin typeface="Heiti SC" pitchFamily="34" charset="0"/>
                <a:ea typeface="Heiti SC" pitchFamily="34" charset="-122"/>
                <a:cs typeface="Heiti SC" pitchFamily="34" charset="-120"/>
              </a:rPr>
              <a:t>04 / 04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Heiti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iti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learn-deck-showcase-zh</dc:title>
  <dc:subject>Editable PPTX converted from HTML with DOM positions</dc:subject>
  <dc:creator>Codex</dc:creator>
  <cp:lastModifiedBy>Codex</cp:lastModifiedBy>
  <cp:revision>1</cp:revision>
  <dcterms:created xsi:type="dcterms:W3CDTF">2026-07-10T05:34:38Z</dcterms:created>
  <dcterms:modified xsi:type="dcterms:W3CDTF">2026-07-10T05:34:38Z</dcterms:modified>
</cp:coreProperties>
</file>